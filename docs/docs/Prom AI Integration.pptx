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Sarabun" panose="00000500000000000000" pitchFamily="34" charset="0"/>
      <p:regular r:id="rId36"/>
      <p:bold r:id="rId37"/>
    </p:embeddedFont>
    <p:embeddedFont>
      <p:font typeface="Prompt" panose="00000500000000000000" pitchFamily="34" charset="0"/>
      <p:regular r:id="rId38"/>
      <p:bold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เปิดด้วยภาพรวม: Prom คือระบบจัดการงานที่สั่งงานได้จากแชท LINE และ Discord โดยมี AI ช่วยตีความข้อความ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ทุกอย่างตั้งค่าได้จากหน้าเว็บ Plane ไม่ต้องแก้โค้ด เบราว์เซอร์ไม่เรียก Hub ตรง แต่ผ่าน Plane เพื่อให้ token อยู่ฝั่งเซิร์ฟเวอร์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ขั้น 6 และ 7 เป็นขั้นเสริม ข้อ 7 จำเป็นเฉพาะถ้าจะใช้ฟีเจอร์แจ้งเตือนในกลุ่ม Webhook ตรวจลายเซ็นทุกครั้ง ถ้า secret ผิด LINE จะได้ 401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URL ต้องมี /core-api/v1 ต่อท้าย ถ้าใช้แค่โดเมนจะได้หน้าเว็บ dashboard แทน API โมเดลเริ่มต้นคือ gpt-oss-120b ตอบประมาณ 1–2 วินาที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ผูกได้ทั้ง LINE และ Discord กับบัญชีเดียว ถ้าผูกทั้งคู่จะได้แจ้งเตือนทั้งสองที่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ไม่ได้รู้ id ของงานหรือผู้ใช้ มันแค่ดึงคำจากข้อความ ส่วนการจับคู่ชื่อกับข้อมูลจริงและการคำนวณวันที่ทำด้วยโค้ดที่ทดสอบได้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หลักการนี้ทำให้ AI ปลอดภัย: ถ้า AI ตีความผิด ผู้ใช้เห็นก่อนและกดยกเลิกได้ ระบบเดิมยังใช้งานได้แม้ AI ล่ม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ข้อมูลในตัวอย่างเป็นข้อมูลสมมติ ระบบดูประวัติจาก Plane แล้วเทียบกับ Audit log ของ Hub เพื่อบอกว่าการแก้มาจากช่องทางไหน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6223A"/>
                </a:solidFill>
                <a:latin typeface="Prompt" pitchFamily="34" charset="0"/>
                <a:ea typeface="Prompt" pitchFamily="34" charset="-122"/>
                <a:cs typeface="Promp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6223A"/>
                </a:solidFill>
                <a:latin typeface="Sarabun" pitchFamily="34" charset="0"/>
                <a:ea typeface="Sarabun" pitchFamily="34" charset="-122"/>
                <a:cs typeface="Sarabun"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6223A"/>
                </a:solidFill>
                <a:latin typeface="Prompt" pitchFamily="34" charset="0"/>
                <a:ea typeface="Prompt" pitchFamily="34" charset="-122"/>
                <a:cs typeface="Promp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6223A"/>
                </a:solidFill>
                <a:latin typeface="Sarabun" pitchFamily="34" charset="0"/>
                <a:ea typeface="Sarabun" pitchFamily="34" charset="-122"/>
                <a:cs typeface="Sarabun"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742C"/>
          </a:solidFill>
          <a:ln/>
        </p:spPr>
      </p:sp>
      <p:sp>
        <p:nvSpPr>
          <p:cNvPr id="3" name="Text 1"/>
          <p:cNvSpPr/>
          <p:nvPr/>
        </p:nvSpPr>
        <p:spPr>
          <a:xfrm>
            <a:off x="812800" y="20803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8742C"/>
                </a:solidFill>
                <a:latin typeface="Prompt" pitchFamily="34" charset="0"/>
                <a:ea typeface="Prompt" pitchFamily="34" charset="-122"/>
                <a:cs typeface="Prompt" pitchFamily="34" charset="-120"/>
              </a:rPr>
              <a:t>PROM INTEGRATION HUB</a:t>
            </a:r>
            <a:endParaRPr lang="en-US" sz="1400" dirty="0"/>
          </a:p>
        </p:txBody>
      </p:sp>
      <p:sp>
        <p:nvSpPr>
          <p:cNvPr id="4" name="Text 2"/>
          <p:cNvSpPr/>
          <p:nvPr>
            <p:ph type="title"/>
          </p:nvPr>
        </p:nvSpPr>
        <p:spPr>
          <a:xfrm>
            <a:off x="812800" y="253236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6F5F0"/>
                </a:solidFill>
                <a:latin typeface="Prompt" pitchFamily="34" charset="0"/>
                <a:ea typeface="Prompt" pitchFamily="34" charset="-122"/>
                <a:cs typeface="Prompt" pitchFamily="34" charset="-120"/>
              </a:rPr>
              <a:t>Prom</a:t>
            </a:r>
            <a:endParaRPr lang="en-US" sz="8000" dirty="0"/>
          </a:p>
        </p:txBody>
      </p:sp>
      <p:sp>
        <p:nvSpPr>
          <p:cNvPr id="5" name="Text 3"/>
          <p:cNvSpPr/>
          <p:nvPr/>
        </p:nvSpPr>
        <p:spPr>
          <a:xfrm>
            <a:off x="812800" y="380236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F6F5F0"/>
                </a:solidFill>
                <a:latin typeface="Prompt" pitchFamily="34" charset="0"/>
                <a:ea typeface="Prompt" pitchFamily="34" charset="-122"/>
                <a:cs typeface="Prompt" pitchFamily="34" charset="-120"/>
              </a:rPr>
              <a:t>สั่งงานผ่าน LINE และ Discord ด้วย AI</a:t>
            </a:r>
            <a:endParaRPr lang="en-US" sz="3200" dirty="0"/>
          </a:p>
        </p:txBody>
      </p:sp>
      <p:sp>
        <p:nvSpPr>
          <p:cNvPr id="6" name="Text 4"/>
          <p:cNvSpPr/>
          <p:nvPr/>
        </p:nvSpPr>
        <p:spPr>
          <a:xfrm>
            <a:off x="812800" y="44932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8"/>
                </a:solidFill>
                <a:latin typeface="Sarabun" pitchFamily="34" charset="0"/>
                <a:ea typeface="Sarabun" pitchFamily="34" charset="-122"/>
                <a:cs typeface="Sarabun" pitchFamily="34" charset="-120"/>
              </a:rPr>
              <a:t>ตั้งแต่การเชื่อมต่อ ผูกบัญชี ใช้งานพื้นฐาน ฟีเจอร์ AI 10 ข้อ จนถึงวิธีทดสอบ</a:t>
            </a:r>
            <a:endParaRPr lang="en-US" sz="16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D8"/>
                </a:solidFill>
                <a:latin typeface="Sarabun" pitchFamily="34" charset="0"/>
                <a:ea typeface="Sarabun" pitchFamily="34" charset="-122"/>
                <a:cs typeface="Sarabun" pitchFamily="34" charset="-120"/>
              </a:rPr>
              <a:t>ตุลาคม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ภาพรวม</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จัดการงานได้จากแชท ไม่ต้องเปิดเว็บ</a:t>
            </a:r>
            <a:endParaRPr lang="en-US" sz="3200" dirty="0"/>
          </a:p>
        </p:txBody>
      </p:sp>
      <p:sp>
        <p:nvSpPr>
          <p:cNvPr id="4" name="Text 2"/>
          <p:cNvSpPr/>
          <p:nvPr/>
        </p:nvSpPr>
        <p:spPr>
          <a:xfrm>
            <a:off x="812800" y="18744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Sarabun" pitchFamily="34" charset="0"/>
                <a:ea typeface="Sarabun" pitchFamily="34" charset="-122"/>
                <a:cs typeface="Sarabun" pitchFamily="34" charset="-120"/>
              </a:rPr>
              <a:t>สร้างงาน ดูงาน อัปเดตงาน และรับแจ้งเตือน ผ่าน LINE หรือ Discord โดยมี AI ช่วยตีความข้อความภาษาไทยและอังกฤษ</a:t>
            </a:r>
            <a:endParaRPr lang="en-US" sz="1600" dirty="0"/>
          </a:p>
        </p:txBody>
      </p:sp>
      <p:sp>
        <p:nvSpPr>
          <p:cNvPr id="5" name="Shape 3"/>
          <p:cNvSpPr/>
          <p:nvPr/>
        </p:nvSpPr>
        <p:spPr>
          <a:xfrm>
            <a:off x="815975" y="2466876"/>
            <a:ext cx="3380284" cy="1944291"/>
          </a:xfrm>
          <a:prstGeom prst="roundRect">
            <a:avLst>
              <a:gd name="adj" fmla="val 6369"/>
            </a:avLst>
          </a:prstGeom>
          <a:solidFill>
            <a:srgbClr val="FFFDF8"/>
          </a:solidFill>
          <a:ln w="6350">
            <a:solidFill>
              <a:srgbClr val="E2E0D8"/>
            </a:solidFill>
            <a:prstDash val="solid"/>
          </a:ln>
        </p:spPr>
      </p:sp>
      <p:pic>
        <p:nvPicPr>
          <p:cNvPr id="6" name="Image 0" descr="Home">    </p:cNvPr>
          <p:cNvPicPr>
            <a:picLocks noChangeAspect="1"/>
          </p:cNvPicPr>
          <p:nvPr/>
        </p:nvPicPr>
        <p:blipFill>
          <a:blip r:embed="rId1"/>
          <a:srcRect l="0" r="0" t="0" b="0"/>
          <a:stretch/>
        </p:blipFill>
        <p:spPr>
          <a:xfrm>
            <a:off x="1098550" y="2749451"/>
            <a:ext cx="355600" cy="355600"/>
          </a:xfrm>
          <a:prstGeom prst="rect">
            <a:avLst/>
          </a:prstGeom>
        </p:spPr>
      </p:pic>
      <p:sp>
        <p:nvSpPr>
          <p:cNvPr id="7" name="Text 4"/>
          <p:cNvSpPr/>
          <p:nvPr/>
        </p:nvSpPr>
        <p:spPr>
          <a:xfrm>
            <a:off x="1098550" y="3206651"/>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3A"/>
                </a:solidFill>
                <a:latin typeface="Prompt" pitchFamily="34" charset="0"/>
                <a:ea typeface="Prompt" pitchFamily="34" charset="-122"/>
                <a:cs typeface="Prompt" pitchFamily="34" charset="-120"/>
              </a:rPr>
              <a:t>Prom</a:t>
            </a:r>
            <a:endParaRPr lang="en-US" sz="2000" dirty="0"/>
          </a:p>
        </p:txBody>
      </p:sp>
      <p:sp>
        <p:nvSpPr>
          <p:cNvPr id="8" name="Text 5"/>
          <p:cNvSpPr/>
          <p:nvPr/>
        </p:nvSpPr>
        <p:spPr>
          <a:xfrm>
            <a:off x="1098550" y="3613051"/>
            <a:ext cx="289958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arabun" pitchFamily="34" charset="0"/>
                <a:ea typeface="Sarabun" pitchFamily="34" charset="-122"/>
                <a:cs typeface="Sarabun" pitchFamily="34" charset="-120"/>
              </a:rPr>
              <a:t>ระบบจัดการงาน สร้างจาก Plane (โอเพนซอร์ส)</a:t>
            </a:r>
            <a:endParaRPr lang="en-US" sz="1400" dirty="0"/>
          </a:p>
        </p:txBody>
      </p:sp>
      <p:sp>
        <p:nvSpPr>
          <p:cNvPr id="9" name="Shape 6"/>
          <p:cNvSpPr/>
          <p:nvPr/>
        </p:nvSpPr>
        <p:spPr>
          <a:xfrm>
            <a:off x="4405809" y="2466876"/>
            <a:ext cx="3380383" cy="1944291"/>
          </a:xfrm>
          <a:prstGeom prst="roundRect">
            <a:avLst>
              <a:gd name="adj" fmla="val 6369"/>
            </a:avLst>
          </a:prstGeom>
          <a:solidFill>
            <a:srgbClr val="FFFDF8"/>
          </a:solidFill>
          <a:ln w="6350">
            <a:solidFill>
              <a:srgbClr val="E2E0D8"/>
            </a:solidFill>
            <a:prstDash val="solid"/>
          </a:ln>
        </p:spPr>
      </p:sp>
      <p:pic>
        <p:nvPicPr>
          <p:cNvPr id="10" name="Image 1" descr="Link">    </p:cNvPr>
          <p:cNvPicPr>
            <a:picLocks noChangeAspect="1"/>
          </p:cNvPicPr>
          <p:nvPr/>
        </p:nvPicPr>
        <p:blipFill>
          <a:blip r:embed="rId2"/>
          <a:srcRect l="0" r="0" t="0" b="0"/>
          <a:stretch/>
        </p:blipFill>
        <p:spPr>
          <a:xfrm>
            <a:off x="4688384" y="2749451"/>
            <a:ext cx="355600" cy="355600"/>
          </a:xfrm>
          <a:prstGeom prst="rect">
            <a:avLst/>
          </a:prstGeom>
        </p:spPr>
      </p:pic>
      <p:sp>
        <p:nvSpPr>
          <p:cNvPr id="11" name="Text 7"/>
          <p:cNvSpPr/>
          <p:nvPr/>
        </p:nvSpPr>
        <p:spPr>
          <a:xfrm>
            <a:off x="4688384" y="3206651"/>
            <a:ext cx="28996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3A"/>
                </a:solidFill>
                <a:latin typeface="Prompt" pitchFamily="34" charset="0"/>
                <a:ea typeface="Prompt" pitchFamily="34" charset="-122"/>
                <a:cs typeface="Prompt" pitchFamily="34" charset="-120"/>
              </a:rPr>
              <a:t>Integration Hub</a:t>
            </a:r>
            <a:endParaRPr lang="en-US" sz="2000" dirty="0"/>
          </a:p>
        </p:txBody>
      </p:sp>
      <p:sp>
        <p:nvSpPr>
          <p:cNvPr id="12" name="Text 8"/>
          <p:cNvSpPr/>
          <p:nvPr/>
        </p:nvSpPr>
        <p:spPr>
          <a:xfrm>
            <a:off x="4688384" y="3613051"/>
            <a:ext cx="289969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arabun" pitchFamily="34" charset="0"/>
                <a:ea typeface="Sarabun" pitchFamily="34" charset="-122"/>
                <a:cs typeface="Sarabun" pitchFamily="34" charset="-120"/>
              </a:rPr>
              <a:t>บริการกลาง ที่เชื่อม Prom กับ LINE และ Discord</a:t>
            </a:r>
            <a:endParaRPr lang="en-US" sz="1400" dirty="0"/>
          </a:p>
        </p:txBody>
      </p:sp>
      <p:sp>
        <p:nvSpPr>
          <p:cNvPr id="13" name="Shape 9"/>
          <p:cNvSpPr/>
          <p:nvPr/>
        </p:nvSpPr>
        <p:spPr>
          <a:xfrm>
            <a:off x="7995741" y="2466876"/>
            <a:ext cx="3380284" cy="1944291"/>
          </a:xfrm>
          <a:prstGeom prst="roundRect">
            <a:avLst>
              <a:gd name="adj" fmla="val 6369"/>
            </a:avLst>
          </a:prstGeom>
          <a:solidFill>
            <a:srgbClr val="FFFDF8"/>
          </a:solidFill>
          <a:ln w="6350">
            <a:solidFill>
              <a:srgbClr val="E2E0D8"/>
            </a:solidFill>
            <a:prstDash val="solid"/>
          </a:ln>
        </p:spPr>
      </p:sp>
      <p:pic>
        <p:nvPicPr>
          <p:cNvPr id="14" name="Image 2" descr="Lightbulb">    </p:cNvPr>
          <p:cNvPicPr>
            <a:picLocks noChangeAspect="1"/>
          </p:cNvPicPr>
          <p:nvPr/>
        </p:nvPicPr>
        <p:blipFill>
          <a:blip r:embed="rId3"/>
          <a:srcRect l="0" r="0" t="0" b="0"/>
          <a:stretch/>
        </p:blipFill>
        <p:spPr>
          <a:xfrm>
            <a:off x="8278316" y="2749451"/>
            <a:ext cx="355600" cy="355600"/>
          </a:xfrm>
          <a:prstGeom prst="rect">
            <a:avLst/>
          </a:prstGeom>
        </p:spPr>
      </p:pic>
      <p:sp>
        <p:nvSpPr>
          <p:cNvPr id="15" name="Text 10"/>
          <p:cNvSpPr/>
          <p:nvPr/>
        </p:nvSpPr>
        <p:spPr>
          <a:xfrm>
            <a:off x="8278316" y="3206651"/>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3A"/>
                </a:solidFill>
                <a:latin typeface="Prompt" pitchFamily="34" charset="0"/>
                <a:ea typeface="Prompt" pitchFamily="34" charset="-122"/>
                <a:cs typeface="Prompt" pitchFamily="34" charset="-120"/>
              </a:rPr>
              <a:t>AI ผู้ช่วย</a:t>
            </a:r>
            <a:endParaRPr lang="en-US" sz="2000" dirty="0"/>
          </a:p>
        </p:txBody>
      </p:sp>
      <p:sp>
        <p:nvSpPr>
          <p:cNvPr id="16" name="Text 11"/>
          <p:cNvSpPr/>
          <p:nvPr/>
        </p:nvSpPr>
        <p:spPr>
          <a:xfrm>
            <a:off x="8278316" y="3613051"/>
            <a:ext cx="289958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arabun" pitchFamily="34" charset="0"/>
                <a:ea typeface="Sarabun" pitchFamily="34" charset="-122"/>
                <a:cs typeface="Sarabun" pitchFamily="34" charset="-120"/>
              </a:rPr>
              <a:t>แปลงข้อความเป็นคำสั่ง ผ่าน NT AI Hub (gpt-oss-120b)</a:t>
            </a:r>
            <a:endParaRPr lang="en-US" sz="1400" dirty="0"/>
          </a:p>
        </p:txBody>
      </p:sp>
      <p:sp>
        <p:nvSpPr>
          <p:cNvPr id="17"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18"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โครงสร้างระบบ</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Hub อยู่ตรงกลาง ระหว่างแชทกับ Plane</a:t>
            </a:r>
            <a:endParaRPr lang="en-US" sz="3200" dirty="0"/>
          </a:p>
        </p:txBody>
      </p:sp>
      <p:sp>
        <p:nvSpPr>
          <p:cNvPr id="4" name="Text 2"/>
          <p:cNvSpPr/>
          <p:nvPr/>
        </p:nvSpPr>
        <p:spPr>
          <a:xfrm>
            <a:off x="812800" y="172204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Sarabun" pitchFamily="34" charset="0"/>
                <a:ea typeface="Sarabun" pitchFamily="34" charset="-122"/>
                <a:cs typeface="Sarabun" pitchFamily="34" charset="-120"/>
              </a:rPr>
              <a:t>Hub ไม่เก็บข้อมูลงานเอง ทุกคำสั่งเรียก Plane API สด ด้วยสิทธิ์ของผู้ใช้คนนั้น</a:t>
            </a:r>
            <a:endParaRPr lang="en-US" sz="1500" dirty="0"/>
          </a:p>
        </p:txBody>
      </p:sp>
      <p:sp>
        <p:nvSpPr>
          <p:cNvPr id="5" name="Shape 3"/>
          <p:cNvSpPr/>
          <p:nvPr/>
        </p:nvSpPr>
        <p:spPr>
          <a:xfrm>
            <a:off x="819150" y="2546350"/>
            <a:ext cx="2146300" cy="812800"/>
          </a:xfrm>
          <a:prstGeom prst="roundRect">
            <a:avLst>
              <a:gd name="adj" fmla="val 14844"/>
            </a:avLst>
          </a:prstGeom>
          <a:solidFill>
            <a:srgbClr val="FFFDF8"/>
          </a:solidFill>
          <a:ln w="12700">
            <a:solidFill>
              <a:srgbClr val="2F5FBF"/>
            </a:solidFill>
            <a:prstDash val="solid"/>
          </a:ln>
        </p:spPr>
      </p:sp>
      <p:sp>
        <p:nvSpPr>
          <p:cNvPr id="6" name="Text 4"/>
          <p:cNvSpPr/>
          <p:nvPr/>
        </p:nvSpPr>
        <p:spPr>
          <a:xfrm>
            <a:off x="977900" y="2705100"/>
            <a:ext cx="1883664" cy="301823"/>
          </a:xfrm>
          <a:prstGeom prst="rect">
            <a:avLst/>
          </a:prstGeom>
          <a:noFill/>
          <a:ln/>
        </p:spPr>
        <p:txBody>
          <a:bodyPr wrap="square" lIns="0" tIns="0" rIns="0" bIns="0" rtlCol="0" anchor="t">
            <a:normAutofit/>
          </a:bodyPr>
          <a:lstStyle/>
          <a:p>
            <a:pPr algn="l" indent="0" marL="0">
              <a:lnSpc>
                <a:spcPts val="2220"/>
              </a:lnSpc>
              <a:buNone/>
            </a:pPr>
            <a:r>
              <a:rPr lang="en-US" sz="1850" b="1" dirty="0">
                <a:solidFill>
                  <a:srgbClr val="16223A"/>
                </a:solidFill>
                <a:latin typeface="Prompt" pitchFamily="34" charset="0"/>
                <a:ea typeface="Prompt" pitchFamily="34" charset="-122"/>
                <a:cs typeface="Prompt" pitchFamily="34" charset="-120"/>
              </a:rPr>
              <a:t>LINE</a:t>
            </a:r>
            <a:endParaRPr lang="en-US" sz="1850" dirty="0"/>
          </a:p>
        </p:txBody>
      </p:sp>
      <p:sp>
        <p:nvSpPr>
          <p:cNvPr id="7" name="Text 5"/>
          <p:cNvSpPr/>
          <p:nvPr/>
        </p:nvSpPr>
        <p:spPr>
          <a:xfrm>
            <a:off x="977900" y="3006923"/>
            <a:ext cx="1883664" cy="218877"/>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568"/>
                </a:solidFill>
                <a:latin typeface="Sarabun" pitchFamily="34" charset="0"/>
                <a:ea typeface="Sarabun" pitchFamily="34" charset="-122"/>
                <a:cs typeface="Sarabun" pitchFamily="34" charset="-120"/>
              </a:rPr>
              <a:t>แชทส่วนตัว / กลุ่ม</a:t>
            </a:r>
            <a:endParaRPr lang="en-US" sz="1088" dirty="0"/>
          </a:p>
        </p:txBody>
      </p:sp>
      <p:sp>
        <p:nvSpPr>
          <p:cNvPr id="8" name="Shape 6"/>
          <p:cNvSpPr/>
          <p:nvPr/>
        </p:nvSpPr>
        <p:spPr>
          <a:xfrm>
            <a:off x="819150" y="3816350"/>
            <a:ext cx="2146300" cy="812800"/>
          </a:xfrm>
          <a:prstGeom prst="roundRect">
            <a:avLst>
              <a:gd name="adj" fmla="val 14844"/>
            </a:avLst>
          </a:prstGeom>
          <a:solidFill>
            <a:srgbClr val="FFFDF8"/>
          </a:solidFill>
          <a:ln w="12700">
            <a:solidFill>
              <a:srgbClr val="2F5FBF"/>
            </a:solidFill>
            <a:prstDash val="solid"/>
          </a:ln>
        </p:spPr>
      </p:sp>
      <p:sp>
        <p:nvSpPr>
          <p:cNvPr id="9" name="Text 7"/>
          <p:cNvSpPr/>
          <p:nvPr/>
        </p:nvSpPr>
        <p:spPr>
          <a:xfrm>
            <a:off x="977900" y="3975100"/>
            <a:ext cx="1883664" cy="301823"/>
          </a:xfrm>
          <a:prstGeom prst="rect">
            <a:avLst/>
          </a:prstGeom>
          <a:noFill/>
          <a:ln/>
        </p:spPr>
        <p:txBody>
          <a:bodyPr wrap="square" lIns="0" tIns="0" rIns="0" bIns="0" rtlCol="0" anchor="t">
            <a:normAutofit/>
          </a:bodyPr>
          <a:lstStyle/>
          <a:p>
            <a:pPr algn="l" indent="0" marL="0">
              <a:lnSpc>
                <a:spcPts val="2220"/>
              </a:lnSpc>
              <a:buNone/>
            </a:pPr>
            <a:r>
              <a:rPr lang="en-US" sz="1850" b="1" dirty="0">
                <a:solidFill>
                  <a:srgbClr val="16223A"/>
                </a:solidFill>
                <a:latin typeface="Prompt" pitchFamily="34" charset="0"/>
                <a:ea typeface="Prompt" pitchFamily="34" charset="-122"/>
                <a:cs typeface="Prompt" pitchFamily="34" charset="-120"/>
              </a:rPr>
              <a:t>Discord</a:t>
            </a:r>
            <a:endParaRPr lang="en-US" sz="1850" dirty="0"/>
          </a:p>
        </p:txBody>
      </p:sp>
      <p:sp>
        <p:nvSpPr>
          <p:cNvPr id="10" name="Text 8"/>
          <p:cNvSpPr/>
          <p:nvPr/>
        </p:nvSpPr>
        <p:spPr>
          <a:xfrm>
            <a:off x="977900" y="4276923"/>
            <a:ext cx="1883664" cy="218877"/>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568"/>
                </a:solidFill>
                <a:latin typeface="Sarabun" pitchFamily="34" charset="0"/>
                <a:ea typeface="Sarabun" pitchFamily="34" charset="-122"/>
                <a:cs typeface="Sarabun" pitchFamily="34" charset="-120"/>
              </a:rPr>
              <a:t>DM / ช่องใน server</a:t>
            </a:r>
            <a:endParaRPr lang="en-US" sz="1088" dirty="0"/>
          </a:p>
        </p:txBody>
      </p:sp>
      <p:sp>
        <p:nvSpPr>
          <p:cNvPr id="11" name="Shape 9"/>
          <p:cNvSpPr/>
          <p:nvPr/>
        </p:nvSpPr>
        <p:spPr>
          <a:xfrm>
            <a:off x="4381500" y="2540000"/>
            <a:ext cx="3429000" cy="1524000"/>
          </a:xfrm>
          <a:prstGeom prst="roundRect">
            <a:avLst>
              <a:gd name="adj" fmla="val 10000"/>
            </a:avLst>
          </a:prstGeom>
          <a:solidFill>
            <a:srgbClr val="16223A"/>
          </a:solidFill>
          <a:ln/>
        </p:spPr>
      </p:sp>
      <p:sp>
        <p:nvSpPr>
          <p:cNvPr id="12" name="Text 10"/>
          <p:cNvSpPr/>
          <p:nvPr/>
        </p:nvSpPr>
        <p:spPr>
          <a:xfrm>
            <a:off x="4610100" y="2980730"/>
            <a:ext cx="306095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Prompt" pitchFamily="34" charset="0"/>
                <a:ea typeface="Prompt" pitchFamily="34" charset="-122"/>
                <a:cs typeface="Prompt" pitchFamily="34" charset="-120"/>
              </a:rPr>
              <a:t>Integration Hub</a:t>
            </a:r>
            <a:endParaRPr lang="en-US" sz="2200" dirty="0"/>
          </a:p>
        </p:txBody>
      </p:sp>
      <p:sp>
        <p:nvSpPr>
          <p:cNvPr id="13" name="Text 11"/>
          <p:cNvSpPr/>
          <p:nvPr/>
        </p:nvSpPr>
        <p:spPr>
          <a:xfrm>
            <a:off x="4610100" y="3392190"/>
            <a:ext cx="30609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D8"/>
                </a:solidFill>
                <a:latin typeface="Sarabun" pitchFamily="34" charset="0"/>
                <a:ea typeface="Sarabun" pitchFamily="34" charset="-122"/>
                <a:cs typeface="Sarabun" pitchFamily="34" charset="-120"/>
              </a:rPr>
              <a:t>API · Worker · Scheduler · Discord Bot</a:t>
            </a:r>
            <a:endParaRPr lang="en-US" sz="1300" dirty="0"/>
          </a:p>
        </p:txBody>
      </p:sp>
      <p:sp>
        <p:nvSpPr>
          <p:cNvPr id="14" name="Shape 12"/>
          <p:cNvSpPr/>
          <p:nvPr/>
        </p:nvSpPr>
        <p:spPr>
          <a:xfrm>
            <a:off x="9226550" y="2863850"/>
            <a:ext cx="2146300" cy="876300"/>
          </a:xfrm>
          <a:prstGeom prst="roundRect">
            <a:avLst>
              <a:gd name="adj" fmla="val 13768"/>
            </a:avLst>
          </a:prstGeom>
          <a:solidFill>
            <a:srgbClr val="FFFDF8"/>
          </a:solidFill>
          <a:ln w="12700">
            <a:solidFill>
              <a:srgbClr val="2F5FBF"/>
            </a:solidFill>
            <a:prstDash val="solid"/>
          </a:ln>
        </p:spPr>
      </p:sp>
      <p:sp>
        <p:nvSpPr>
          <p:cNvPr id="15" name="Text 13"/>
          <p:cNvSpPr/>
          <p:nvPr/>
        </p:nvSpPr>
        <p:spPr>
          <a:xfrm>
            <a:off x="9385300" y="3030240"/>
            <a:ext cx="18836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3A"/>
                </a:solidFill>
                <a:latin typeface="Prompt" pitchFamily="34" charset="0"/>
                <a:ea typeface="Prompt" pitchFamily="34" charset="-122"/>
                <a:cs typeface="Prompt" pitchFamily="34" charset="-120"/>
              </a:rPr>
              <a:t>Plane (Prom)</a:t>
            </a:r>
            <a:endParaRPr lang="en-US" sz="2000" dirty="0"/>
          </a:p>
        </p:txBody>
      </p:sp>
      <p:sp>
        <p:nvSpPr>
          <p:cNvPr id="16" name="Text 14"/>
          <p:cNvSpPr/>
          <p:nvPr/>
        </p:nvSpPr>
        <p:spPr>
          <a:xfrm>
            <a:off x="9385300" y="3360440"/>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arabun" pitchFamily="34" charset="0"/>
                <a:ea typeface="Sarabun" pitchFamily="34" charset="-122"/>
                <a:cs typeface="Sarabun" pitchFamily="34" charset="-120"/>
              </a:rPr>
              <a:t>เว็บจัดการงาน</a:t>
            </a:r>
            <a:endParaRPr lang="en-US" sz="1200" dirty="0"/>
          </a:p>
        </p:txBody>
      </p:sp>
      <p:sp>
        <p:nvSpPr>
          <p:cNvPr id="17" name="Text 15"/>
          <p:cNvSpPr/>
          <p:nvPr/>
        </p:nvSpPr>
        <p:spPr>
          <a:xfrm>
            <a:off x="4000500" y="4826000"/>
            <a:ext cx="1270000" cy="635000"/>
          </a:xfrm>
          <a:custGeom>
            <a:avLst/>
            <a:gdLst/>
            <a:ahLst/>
            <a:cxnLst/>
            <a:rect l="l" t="t" r="r" b="b"/>
            <a:pathLst>
              <a:path w="1270000" h="635000">
                <a:moveTo>
                  <a:pt x="101600" y="0"/>
                </a:moveTo>
                <a:lnTo>
                  <a:pt x="1168400" y="0"/>
                </a:lnTo>
                <a:arcTo hR="101600" wR="101600" stAng="16200000" swAng="5400000"/>
                <a:lnTo>
                  <a:pt x="1270000" y="533400"/>
                </a:lnTo>
                <a:arcTo hR="101600" wR="101600" stAng="0" swAng="5400000"/>
                <a:lnTo>
                  <a:pt x="101600" y="635000"/>
                </a:lnTo>
                <a:arcTo hR="101600" wR="101600" stAng="5400000" swAng="5400000"/>
                <a:lnTo>
                  <a:pt x="0" y="101600"/>
                </a:lnTo>
                <a:arcTo hR="101600" wR="101600" stAng="10800000" swAng="5400000"/>
                <a:close/>
              </a:path>
            </a:pathLst>
          </a:custGeom>
          <a:solidFill>
            <a:srgbClr val="FBE3D3"/>
          </a:solidFill>
          <a:ln/>
        </p:spPr>
        <p:txBody>
          <a:bodyPr wrap="square" lIns="0" tIns="0" rIns="0" bIns="0" rtlCol="0" anchor="ctr">
            <a:normAutofit/>
          </a:bodyPr>
          <a:lstStyle/>
          <a:p>
            <a:pPr algn="ctr" indent="0" marL="0">
              <a:lnSpc>
                <a:spcPts val="1820"/>
              </a:lnSpc>
              <a:buNone/>
            </a:pPr>
            <a:r>
              <a:rPr lang="en-US" sz="1300" b="1" dirty="0">
                <a:solidFill>
                  <a:srgbClr val="16223A"/>
                </a:solidFill>
                <a:latin typeface="Prompt" pitchFamily="34" charset="0"/>
                <a:ea typeface="Prompt" pitchFamily="34" charset="-122"/>
                <a:cs typeface="Prompt" pitchFamily="34" charset="-120"/>
              </a:rPr>
              <a:t>NT AI Hub</a:t>
            </a:r>
            <a:endParaRPr lang="en-US" sz="1300" dirty="0"/>
          </a:p>
        </p:txBody>
      </p:sp>
      <p:sp>
        <p:nvSpPr>
          <p:cNvPr id="18" name="Text 16"/>
          <p:cNvSpPr/>
          <p:nvPr/>
        </p:nvSpPr>
        <p:spPr>
          <a:xfrm>
            <a:off x="5461000" y="4826000"/>
            <a:ext cx="1270000" cy="635000"/>
          </a:xfrm>
          <a:custGeom>
            <a:avLst/>
            <a:gdLst/>
            <a:ahLst/>
            <a:cxnLst/>
            <a:rect l="l" t="t" r="r" b="b"/>
            <a:pathLst>
              <a:path w="1270000" h="635000">
                <a:moveTo>
                  <a:pt x="101600" y="0"/>
                </a:moveTo>
                <a:lnTo>
                  <a:pt x="1168400" y="0"/>
                </a:lnTo>
                <a:arcTo hR="101600" wR="101600" stAng="16200000" swAng="5400000"/>
                <a:lnTo>
                  <a:pt x="1270000" y="533400"/>
                </a:lnTo>
                <a:arcTo hR="101600" wR="101600" stAng="0" swAng="5400000"/>
                <a:lnTo>
                  <a:pt x="101600" y="635000"/>
                </a:lnTo>
                <a:arcTo hR="101600" wR="101600" stAng="5400000" swAng="5400000"/>
                <a:lnTo>
                  <a:pt x="0" y="101600"/>
                </a:lnTo>
                <a:arcTo hR="101600" wR="101600" stAng="10800000" swAng="5400000"/>
                <a:close/>
              </a:path>
            </a:pathLst>
          </a:custGeom>
          <a:solidFill>
            <a:srgbClr val="E3E8F0"/>
          </a:solidFill>
          <a:ln/>
        </p:spPr>
        <p:txBody>
          <a:bodyPr wrap="square" lIns="0" tIns="0" rIns="0" bIns="0" rtlCol="0" anchor="ctr">
            <a:normAutofit/>
          </a:bodyPr>
          <a:lstStyle/>
          <a:p>
            <a:pPr algn="ctr" indent="0" marL="0">
              <a:lnSpc>
                <a:spcPts val="1820"/>
              </a:lnSpc>
              <a:buNone/>
            </a:pPr>
            <a:r>
              <a:rPr lang="en-US" sz="1300" b="1" dirty="0">
                <a:solidFill>
                  <a:srgbClr val="16223A"/>
                </a:solidFill>
                <a:latin typeface="Prompt" pitchFamily="34" charset="0"/>
                <a:ea typeface="Prompt" pitchFamily="34" charset="-122"/>
                <a:cs typeface="Prompt" pitchFamily="34" charset="-120"/>
              </a:rPr>
              <a:t>Postgres</a:t>
            </a:r>
            <a:endParaRPr lang="en-US" sz="1300" dirty="0"/>
          </a:p>
        </p:txBody>
      </p:sp>
      <p:sp>
        <p:nvSpPr>
          <p:cNvPr id="19" name="Text 17"/>
          <p:cNvSpPr/>
          <p:nvPr/>
        </p:nvSpPr>
        <p:spPr>
          <a:xfrm>
            <a:off x="6921500" y="4826000"/>
            <a:ext cx="1270000" cy="635000"/>
          </a:xfrm>
          <a:custGeom>
            <a:avLst/>
            <a:gdLst/>
            <a:ahLst/>
            <a:cxnLst/>
            <a:rect l="l" t="t" r="r" b="b"/>
            <a:pathLst>
              <a:path w="1270000" h="635000">
                <a:moveTo>
                  <a:pt x="101600" y="0"/>
                </a:moveTo>
                <a:lnTo>
                  <a:pt x="1168400" y="0"/>
                </a:lnTo>
                <a:arcTo hR="101600" wR="101600" stAng="16200000" swAng="5400000"/>
                <a:lnTo>
                  <a:pt x="1270000" y="533400"/>
                </a:lnTo>
                <a:arcTo hR="101600" wR="101600" stAng="0" swAng="5400000"/>
                <a:lnTo>
                  <a:pt x="101600" y="635000"/>
                </a:lnTo>
                <a:arcTo hR="101600" wR="101600" stAng="5400000" swAng="5400000"/>
                <a:lnTo>
                  <a:pt x="0" y="101600"/>
                </a:lnTo>
                <a:arcTo hR="101600" wR="101600" stAng="10800000" swAng="5400000"/>
                <a:close/>
              </a:path>
            </a:pathLst>
          </a:custGeom>
          <a:solidFill>
            <a:srgbClr val="E3E8F0"/>
          </a:solidFill>
          <a:ln/>
        </p:spPr>
        <p:txBody>
          <a:bodyPr wrap="square" lIns="0" tIns="0" rIns="0" bIns="0" rtlCol="0" anchor="ctr">
            <a:normAutofit/>
          </a:bodyPr>
          <a:lstStyle/>
          <a:p>
            <a:pPr algn="ctr" indent="0" marL="0">
              <a:lnSpc>
                <a:spcPts val="1820"/>
              </a:lnSpc>
              <a:buNone/>
            </a:pPr>
            <a:r>
              <a:rPr lang="en-US" sz="1300" b="1" dirty="0">
                <a:solidFill>
                  <a:srgbClr val="16223A"/>
                </a:solidFill>
                <a:latin typeface="Prompt" pitchFamily="34" charset="0"/>
                <a:ea typeface="Prompt" pitchFamily="34" charset="-122"/>
                <a:cs typeface="Prompt" pitchFamily="34" charset="-120"/>
              </a:rPr>
              <a:t>Redis</a:t>
            </a:r>
            <a:endParaRPr lang="en-US" sz="1300" dirty="0"/>
          </a:p>
        </p:txBody>
      </p:sp>
      <p:pic>
        <p:nvPicPr>
          <p:cNvPr id="20" name="Image 0" descr="connector">    </p:cNvPr>
          <p:cNvPicPr>
            <a:picLocks noChangeAspect="1"/>
          </p:cNvPicPr>
          <p:nvPr/>
        </p:nvPicPr>
        <p:blipFill>
          <a:blip r:embed="rId1"/>
          <a:srcRect l="0" r="0" t="0" b="0"/>
          <a:stretch/>
        </p:blipFill>
        <p:spPr>
          <a:xfrm>
            <a:off x="2921000" y="2901950"/>
            <a:ext cx="1511300" cy="196850"/>
          </a:xfrm>
          <a:prstGeom prst="rect">
            <a:avLst/>
          </a:prstGeom>
        </p:spPr>
      </p:pic>
      <p:pic>
        <p:nvPicPr>
          <p:cNvPr id="21" name="Image 1" descr="connector">    </p:cNvPr>
          <p:cNvPicPr>
            <a:picLocks noChangeAspect="1"/>
          </p:cNvPicPr>
          <p:nvPr/>
        </p:nvPicPr>
        <p:blipFill>
          <a:blip r:embed="rId2"/>
          <a:srcRect l="0" r="0" t="0" b="0"/>
          <a:stretch/>
        </p:blipFill>
        <p:spPr>
          <a:xfrm>
            <a:off x="2921000" y="3632200"/>
            <a:ext cx="1511300" cy="641350"/>
          </a:xfrm>
          <a:prstGeom prst="rect">
            <a:avLst/>
          </a:prstGeom>
        </p:spPr>
      </p:pic>
      <p:pic>
        <p:nvPicPr>
          <p:cNvPr id="22" name="Image 2" descr="connector">    </p:cNvPr>
          <p:cNvPicPr>
            <a:picLocks noChangeAspect="1"/>
          </p:cNvPicPr>
          <p:nvPr/>
        </p:nvPicPr>
        <p:blipFill>
          <a:blip r:embed="rId3"/>
          <a:srcRect l="0" r="0" t="0" b="0"/>
          <a:stretch/>
        </p:blipFill>
        <p:spPr>
          <a:xfrm>
            <a:off x="7759700" y="3251200"/>
            <a:ext cx="1511300" cy="101600"/>
          </a:xfrm>
          <a:prstGeom prst="rect">
            <a:avLst/>
          </a:prstGeom>
        </p:spPr>
      </p:pic>
      <p:pic>
        <p:nvPicPr>
          <p:cNvPr id="23" name="Image 3" descr="connector">    </p:cNvPr>
          <p:cNvPicPr>
            <a:picLocks noChangeAspect="1"/>
          </p:cNvPicPr>
          <p:nvPr/>
        </p:nvPicPr>
        <p:blipFill>
          <a:blip r:embed="rId4"/>
          <a:srcRect l="0" r="0" t="0" b="0"/>
          <a:stretch/>
        </p:blipFill>
        <p:spPr>
          <a:xfrm>
            <a:off x="4584700" y="4013200"/>
            <a:ext cx="101600" cy="863600"/>
          </a:xfrm>
          <a:prstGeom prst="rect">
            <a:avLst/>
          </a:prstGeom>
        </p:spPr>
      </p:pic>
      <p:pic>
        <p:nvPicPr>
          <p:cNvPr id="24" name="Image 4" descr="connector">    </p:cNvPr>
          <p:cNvPicPr>
            <a:picLocks noChangeAspect="1"/>
          </p:cNvPicPr>
          <p:nvPr/>
        </p:nvPicPr>
        <p:blipFill>
          <a:blip r:embed="rId5"/>
          <a:srcRect l="0" r="0" t="0" b="0"/>
          <a:stretch/>
        </p:blipFill>
        <p:spPr>
          <a:xfrm>
            <a:off x="6045200" y="4013200"/>
            <a:ext cx="101600" cy="863600"/>
          </a:xfrm>
          <a:prstGeom prst="rect">
            <a:avLst/>
          </a:prstGeom>
        </p:spPr>
      </p:pic>
      <p:pic>
        <p:nvPicPr>
          <p:cNvPr id="25" name="Image 5" descr="connector">    </p:cNvPr>
          <p:cNvPicPr>
            <a:picLocks noChangeAspect="1"/>
          </p:cNvPicPr>
          <p:nvPr/>
        </p:nvPicPr>
        <p:blipFill>
          <a:blip r:embed="rId6"/>
          <a:srcRect l="0" r="0" t="0" b="0"/>
          <a:stretch/>
        </p:blipFill>
        <p:spPr>
          <a:xfrm>
            <a:off x="7505700" y="4013200"/>
            <a:ext cx="101600" cy="863600"/>
          </a:xfrm>
          <a:prstGeom prst="rect">
            <a:avLst/>
          </a:prstGeom>
        </p:spPr>
      </p:pic>
      <p:sp>
        <p:nvSpPr>
          <p:cNvPr id="26" name="Text 18"/>
          <p:cNvSpPr/>
          <p:nvPr/>
        </p:nvSpPr>
        <p:spPr>
          <a:xfrm>
            <a:off x="8509000" y="4826000"/>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arabun" pitchFamily="34" charset="0"/>
                <a:ea typeface="Sarabun" pitchFamily="34" charset="-122"/>
                <a:cs typeface="Sarabun" pitchFamily="34" charset="-120"/>
              </a:rPr>
              <a:t>Postgres: ตั้งค่า บัญชีที่ผูก Audit log</a:t>
            </a:r>
            <a:endParaRPr lang="en-US" sz="1200" dirty="0"/>
          </a:p>
          <a:p>
            <a:pPr algn="l" indent="0" marL="0">
              <a:lnSpc>
                <a:spcPts val="1680"/>
              </a:lnSpc>
              <a:buNone/>
            </a:pPr>
            <a:r>
              <a:rPr lang="en-US" sz="1200" dirty="0">
                <a:solidFill>
                  <a:srgbClr val="4A5568"/>
                </a:solidFill>
                <a:latin typeface="Sarabun" pitchFamily="34" charset="0"/>
                <a:ea typeface="Sarabun" pitchFamily="34" charset="-122"/>
                <a:cs typeface="Sarabun" pitchFamily="34" charset="-120"/>
              </a:rPr>
              <a:t>Redis: สถานะบทสนทนา กันข้อความซ้ำ</a:t>
            </a:r>
            <a:endParaRPr lang="en-US" sz="1200" dirty="0"/>
          </a:p>
        </p:txBody>
      </p:sp>
      <p:sp>
        <p:nvSpPr>
          <p:cNvPr id="27"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28"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บทบาทผู้ใช้</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ใครทำอะไร</a:t>
            </a:r>
            <a:endParaRPr lang="en-US" sz="3200" dirty="0"/>
          </a:p>
        </p:txBody>
      </p:sp>
      <p:sp>
        <p:nvSpPr>
          <p:cNvPr id="4" name="Shape 2"/>
          <p:cNvSpPr/>
          <p:nvPr/>
        </p:nvSpPr>
        <p:spPr>
          <a:xfrm>
            <a:off x="812800" y="1874441"/>
            <a:ext cx="5175250" cy="2786360"/>
          </a:xfrm>
          <a:prstGeom prst="roundRect">
            <a:avLst>
              <a:gd name="adj" fmla="val 4558"/>
            </a:avLst>
          </a:prstGeom>
          <a:solidFill>
            <a:srgbClr val="16223A"/>
          </a:solidFill>
          <a:ln/>
        </p:spPr>
      </p:sp>
      <p:pic>
        <p:nvPicPr>
          <p:cNvPr id="5" name="Image 0" descr="Settings">    </p:cNvPr>
          <p:cNvPicPr>
            <a:picLocks noChangeAspect="1"/>
          </p:cNvPicPr>
          <p:nvPr/>
        </p:nvPicPr>
        <p:blipFill>
          <a:blip r:embed="rId1"/>
          <a:srcRect l="0" r="0" t="0" b="0"/>
          <a:stretch/>
        </p:blipFill>
        <p:spPr>
          <a:xfrm>
            <a:off x="1117600" y="2179241"/>
            <a:ext cx="355600" cy="355600"/>
          </a:xfrm>
          <a:prstGeom prst="rect">
            <a:avLst/>
          </a:prstGeom>
        </p:spPr>
      </p:pic>
      <p:sp>
        <p:nvSpPr>
          <p:cNvPr id="6" name="Text 3"/>
          <p:cNvSpPr/>
          <p:nvPr/>
        </p:nvSpPr>
        <p:spPr>
          <a:xfrm>
            <a:off x="1117600" y="2661841"/>
            <a:ext cx="47026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Prompt" pitchFamily="34" charset="0"/>
                <a:ea typeface="Prompt" pitchFamily="34" charset="-122"/>
                <a:cs typeface="Prompt" pitchFamily="34" charset="-120"/>
              </a:rPr>
              <a:t>Admin ของ Workspace</a:t>
            </a:r>
            <a:endParaRPr lang="en-US" sz="2200" dirty="0"/>
          </a:p>
        </p:txBody>
      </p:sp>
      <p:sp>
        <p:nvSpPr>
          <p:cNvPr id="7" name="Text 4"/>
          <p:cNvSpPr/>
          <p:nvPr/>
        </p:nvSpPr>
        <p:spPr>
          <a:xfrm>
            <a:off x="1182370" y="3124101"/>
            <a:ext cx="4630230" cy="1244600"/>
          </a:xfrm>
          <a:prstGeom prst="rect">
            <a:avLst/>
          </a:prstGeom>
          <a:noFill/>
          <a:ln/>
        </p:spPr>
        <p:txBody>
          <a:bodyPr wrap="square" lIns="0" tIns="0" rIns="0" bIns="0" rtlCol="0" anchor="t">
            <a:normAutofit/>
          </a:bodyPr>
          <a:lstStyle/>
          <a:p>
            <a:pPr algn="l" marL="189230" indent="-189230">
              <a:lnSpc>
                <a:spcPts val="2400"/>
              </a:lnSpc>
              <a:buSzPct val="100000"/>
              <a:buChar char="•"/>
            </a:pPr>
            <a:r>
              <a:rPr lang="en-US" sz="1500" dirty="0">
                <a:solidFill>
                  <a:srgbClr val="D5DEEA"/>
                </a:solidFill>
                <a:latin typeface="Sarabun" pitchFamily="34" charset="0"/>
                <a:ea typeface="Sarabun" pitchFamily="34" charset="-122"/>
                <a:cs typeface="Sarabun" pitchFamily="34" charset="-120"/>
              </a:rPr>
              <a:t>เชื่อม LINE / Discord</a:t>
            </a:r>
            <a:endParaRPr lang="en-US" sz="1500" dirty="0"/>
          </a:p>
          <a:p>
            <a:pPr algn="l" marL="189230" indent="-189230">
              <a:lnSpc>
                <a:spcPts val="2400"/>
              </a:lnSpc>
              <a:buSzPct val="100000"/>
              <a:buChar char="•"/>
            </a:pPr>
            <a:r>
              <a:rPr lang="en-US" sz="1500" dirty="0">
                <a:solidFill>
                  <a:srgbClr val="D5DEEA"/>
                </a:solidFill>
                <a:latin typeface="Sarabun" pitchFamily="34" charset="0"/>
                <a:ea typeface="Sarabun" pitchFamily="34" charset="-122"/>
                <a:cs typeface="Sarabun" pitchFamily="34" charset="-120"/>
              </a:rPr>
              <a:t>ตั้งค่า AI</a:t>
            </a:r>
            <a:endParaRPr lang="en-US" sz="1500" dirty="0"/>
          </a:p>
          <a:p>
            <a:pPr algn="l" marL="189230" indent="-189230">
              <a:lnSpc>
                <a:spcPts val="2400"/>
              </a:lnSpc>
              <a:buSzPct val="100000"/>
              <a:buChar char="•"/>
            </a:pPr>
            <a:r>
              <a:rPr lang="en-US" sz="1500" dirty="0">
                <a:solidFill>
                  <a:srgbClr val="D5DEEA"/>
                </a:solidFill>
                <a:latin typeface="Sarabun" pitchFamily="34" charset="0"/>
                <a:ea typeface="Sarabun" pitchFamily="34" charset="-122"/>
                <a:cs typeface="Sarabun" pitchFamily="34" charset="-120"/>
              </a:rPr>
              <a:t>ตั้งกฎ Auto-tagging</a:t>
            </a:r>
            <a:endParaRPr lang="en-US" sz="1500" dirty="0"/>
          </a:p>
          <a:p>
            <a:pPr algn="l" marL="189230" indent="-189230">
              <a:lnSpc>
                <a:spcPts val="2400"/>
              </a:lnSpc>
              <a:buSzPct val="100000"/>
              <a:buChar char="•"/>
            </a:pPr>
            <a:r>
              <a:rPr lang="en-US" sz="1500" dirty="0">
                <a:solidFill>
                  <a:srgbClr val="D5DEEA"/>
                </a:solidFill>
                <a:latin typeface="Sarabun" pitchFamily="34" charset="0"/>
                <a:ea typeface="Sarabun" pitchFamily="34" charset="-122"/>
                <a:cs typeface="Sarabun" pitchFamily="34" charset="-120"/>
              </a:rPr>
              <a:t>ดู Audit log</a:t>
            </a:r>
            <a:endParaRPr lang="en-US" sz="1500" dirty="0"/>
          </a:p>
        </p:txBody>
      </p:sp>
      <p:sp>
        <p:nvSpPr>
          <p:cNvPr id="8" name="Shape 5"/>
          <p:cNvSpPr/>
          <p:nvPr/>
        </p:nvSpPr>
        <p:spPr>
          <a:xfrm>
            <a:off x="6194425" y="1877616"/>
            <a:ext cx="5181600" cy="2780010"/>
          </a:xfrm>
          <a:prstGeom prst="roundRect">
            <a:avLst>
              <a:gd name="adj" fmla="val 4454"/>
            </a:avLst>
          </a:prstGeom>
          <a:solidFill>
            <a:srgbClr val="FFFDF8"/>
          </a:solidFill>
          <a:ln w="6350">
            <a:solidFill>
              <a:srgbClr val="E2E0D8"/>
            </a:solidFill>
            <a:prstDash val="solid"/>
          </a:ln>
        </p:spPr>
      </p:sp>
      <p:pic>
        <p:nvPicPr>
          <p:cNvPr id="9" name="Image 1" descr="Users">    </p:cNvPr>
          <p:cNvPicPr>
            <a:picLocks noChangeAspect="1"/>
          </p:cNvPicPr>
          <p:nvPr/>
        </p:nvPicPr>
        <p:blipFill>
          <a:blip r:embed="rId2"/>
          <a:srcRect l="0" r="0" t="0" b="0"/>
          <a:stretch/>
        </p:blipFill>
        <p:spPr>
          <a:xfrm>
            <a:off x="6502400" y="2185591"/>
            <a:ext cx="355600" cy="355600"/>
          </a:xfrm>
          <a:prstGeom prst="rect">
            <a:avLst/>
          </a:prstGeom>
        </p:spPr>
      </p:pic>
      <p:sp>
        <p:nvSpPr>
          <p:cNvPr id="10" name="Text 6"/>
          <p:cNvSpPr/>
          <p:nvPr/>
        </p:nvSpPr>
        <p:spPr>
          <a:xfrm>
            <a:off x="6502400" y="2668191"/>
            <a:ext cx="47026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23A"/>
                </a:solidFill>
                <a:latin typeface="Prompt" pitchFamily="34" charset="0"/>
                <a:ea typeface="Prompt" pitchFamily="34" charset="-122"/>
                <a:cs typeface="Prompt" pitchFamily="34" charset="-120"/>
              </a:rPr>
              <a:t>ผู้ใช้ทั่วไป</a:t>
            </a:r>
            <a:endParaRPr lang="en-US" sz="2200" dirty="0"/>
          </a:p>
        </p:txBody>
      </p:sp>
      <p:sp>
        <p:nvSpPr>
          <p:cNvPr id="11" name="Text 7"/>
          <p:cNvSpPr/>
          <p:nvPr/>
        </p:nvSpPr>
        <p:spPr>
          <a:xfrm>
            <a:off x="6567170" y="3130451"/>
            <a:ext cx="4630230" cy="1244600"/>
          </a:xfrm>
          <a:prstGeom prst="rect">
            <a:avLst/>
          </a:prstGeom>
          <a:noFill/>
          <a:ln/>
        </p:spPr>
        <p:txBody>
          <a:bodyPr wrap="square" lIns="0" tIns="0" rIns="0" bIns="0" rtlCol="0" anchor="t">
            <a:normAutofit/>
          </a:bodyPr>
          <a:lstStyle/>
          <a:p>
            <a:pPr algn="l" marL="189230" indent="-189230">
              <a:lnSpc>
                <a:spcPts val="2400"/>
              </a:lnSpc>
              <a:buSzPct val="100000"/>
              <a:buChar char="•"/>
            </a:pPr>
            <a:r>
              <a:rPr lang="en-US" sz="1500" dirty="0">
                <a:solidFill>
                  <a:srgbClr val="4A5568"/>
                </a:solidFill>
                <a:latin typeface="Sarabun" pitchFamily="34" charset="0"/>
                <a:ea typeface="Sarabun" pitchFamily="34" charset="-122"/>
                <a:cs typeface="Sarabun" pitchFamily="34" charset="-120"/>
              </a:rPr>
              <a:t>ผูกบัญชีแชท กับบัญชี Prom</a:t>
            </a:r>
            <a:endParaRPr lang="en-US" sz="1500" dirty="0"/>
          </a:p>
          <a:p>
            <a:pPr algn="l" marL="189230" indent="-189230">
              <a:lnSpc>
                <a:spcPts val="2400"/>
              </a:lnSpc>
              <a:buSzPct val="100000"/>
              <a:buChar char="•"/>
            </a:pPr>
            <a:r>
              <a:rPr lang="en-US" sz="1500" dirty="0">
                <a:solidFill>
                  <a:srgbClr val="4A5568"/>
                </a:solidFill>
                <a:latin typeface="Sarabun" pitchFamily="34" charset="0"/>
                <a:ea typeface="Sarabun" pitchFamily="34" charset="-122"/>
                <a:cs typeface="Sarabun" pitchFamily="34" charset="-120"/>
              </a:rPr>
              <a:t>สั่งงานผ่านแชท (เมนู หรือ AI)</a:t>
            </a:r>
            <a:endParaRPr lang="en-US" sz="1500" dirty="0"/>
          </a:p>
          <a:p>
            <a:pPr algn="l" marL="189230" indent="-189230">
              <a:lnSpc>
                <a:spcPts val="2400"/>
              </a:lnSpc>
              <a:buSzPct val="100000"/>
              <a:buChar char="•"/>
            </a:pPr>
            <a:r>
              <a:rPr lang="en-US" sz="1500" dirty="0">
                <a:solidFill>
                  <a:srgbClr val="4A5568"/>
                </a:solidFill>
                <a:latin typeface="Sarabun" pitchFamily="34" charset="0"/>
                <a:ea typeface="Sarabun" pitchFamily="34" charset="-122"/>
                <a:cs typeface="Sarabun" pitchFamily="34" charset="-120"/>
              </a:rPr>
              <a:t>ตั้งค่าแจ้งเตือนของตัวเอง</a:t>
            </a:r>
            <a:endParaRPr lang="en-US" sz="1500" dirty="0"/>
          </a:p>
          <a:p>
            <a:pPr algn="l" marL="189230" indent="-189230">
              <a:lnSpc>
                <a:spcPts val="2400"/>
              </a:lnSpc>
              <a:buSzPct val="100000"/>
              <a:buChar char="•"/>
            </a:pPr>
            <a:r>
              <a:rPr lang="en-US" sz="1500" dirty="0">
                <a:solidFill>
                  <a:srgbClr val="4A5568"/>
                </a:solidFill>
                <a:latin typeface="Sarabun" pitchFamily="34" charset="0"/>
                <a:ea typeface="Sarabun" pitchFamily="34" charset="-122"/>
                <a:cs typeface="Sarabun" pitchFamily="34" charset="-120"/>
              </a:rPr>
              <a:t>ผูกกลุ่มเพื่อรับแจ้งเตือนทีม</a:t>
            </a:r>
            <a:endParaRPr lang="en-US" sz="1500" dirty="0"/>
          </a:p>
        </p:txBody>
      </p:sp>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23A"/>
        </a:solidFill>
      </p:bgPr>
    </p:bg>
    <p:spTree>
      <p:nvGrpSpPr>
        <p:cNvPr id="1" name=""/>
        <p:cNvGrpSpPr/>
        <p:nvPr/>
      </p:nvGrpSpPr>
      <p:grpSpPr>
        <a:xfrm>
          <a:off x="0" y="0"/>
          <a:ext cx="0" cy="0"/>
          <a:chOff x="0" y="0"/>
          <a:chExt cx="0" cy="0"/>
        </a:xfrm>
      </p:grpSpPr>
      <p:sp>
        <p:nvSpPr>
          <p:cNvPr id="2" name="Text 0"/>
          <p:cNvSpPr/>
          <p:nvPr/>
        </p:nvSpPr>
        <p:spPr>
          <a:xfrm>
            <a:off x="812800" y="237361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E8742C"/>
                </a:solidFill>
                <a:latin typeface="Prompt" pitchFamily="34" charset="0"/>
                <a:ea typeface="Prompt" pitchFamily="34" charset="-122"/>
                <a:cs typeface="Prompt" pitchFamily="34" charset="-120"/>
              </a:rPr>
              <a:t>01</a:t>
            </a:r>
            <a:endParaRPr lang="en-US" sz="6000" dirty="0"/>
          </a:p>
        </p:txBody>
      </p:sp>
      <p:sp>
        <p:nvSpPr>
          <p:cNvPr id="3" name="Text 1"/>
          <p:cNvSpPr/>
          <p:nvPr>
            <p:ph type="title"/>
          </p:nvPr>
        </p:nvSpPr>
        <p:spPr>
          <a:xfrm>
            <a:off x="812800" y="335151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Prompt" pitchFamily="34" charset="0"/>
                <a:ea typeface="Prompt" pitchFamily="34" charset="-122"/>
                <a:cs typeface="Prompt" pitchFamily="34" charset="-120"/>
              </a:rPr>
              <a:t>การเชื่อมต่อ และใช้งานพื้นฐาน</a:t>
            </a:r>
            <a:endParaRPr lang="en-US" sz="4800" dirty="0"/>
          </a:p>
        </p:txBody>
      </p:sp>
      <p:sp>
        <p:nvSpPr>
          <p:cNvPr id="4" name="Text 2"/>
          <p:cNvSpPr/>
          <p:nvPr/>
        </p:nvSpPr>
        <p:spPr>
          <a:xfrm>
            <a:off x="812800" y="41998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8"/>
                </a:solidFill>
                <a:latin typeface="Sarabun" pitchFamily="34" charset="0"/>
                <a:ea typeface="Sarabun" pitchFamily="34" charset="-122"/>
                <a:cs typeface="Sarabun" pitchFamily="34" charset="-120"/>
              </a:rPr>
              <a:t>Admin เชื่อม LINE / Discord → ผู้ใช้ผูกบัญชี → สั่งงานจากแชท</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ADMIN · ขั้นที่ 1</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เชื่อม LINE</a:t>
            </a:r>
            <a:endParaRPr lang="en-US" sz="3200" dirty="0"/>
          </a:p>
        </p:txBody>
      </p:sp>
      <p:sp>
        <p:nvSpPr>
          <p:cNvPr id="4" name="Text 2"/>
          <p:cNvSpPr/>
          <p:nvPr/>
        </p:nvSpPr>
        <p:spPr>
          <a:xfrm>
            <a:off x="812800" y="17982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1</a:t>
            </a:r>
            <a:endParaRPr lang="en-US" sz="1400" dirty="0"/>
          </a:p>
        </p:txBody>
      </p:sp>
      <p:sp>
        <p:nvSpPr>
          <p:cNvPr id="5" name="Text 3"/>
          <p:cNvSpPr/>
          <p:nvPr/>
        </p:nvSpPr>
        <p:spPr>
          <a:xfrm>
            <a:off x="1371600" y="18601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สร้าง Messaging API channel ใน </a:t>
            </a:r>
            <a:r>
              <a:rPr lang="en-US" sz="1500" b="1" dirty="0">
                <a:solidFill>
                  <a:srgbClr val="16223A"/>
                </a:solidFill>
                <a:latin typeface="Sarabun" pitchFamily="34" charset="0"/>
                <a:ea typeface="Sarabun" pitchFamily="34" charset="-122"/>
                <a:cs typeface="Sarabun" pitchFamily="34" charset="-120"/>
              </a:rPr>
              <a:t>LINE Developers</a:t>
            </a:r>
            <a:r>
              <a:rPr lang="en-US" sz="1500" dirty="0">
                <a:solidFill>
                  <a:srgbClr val="16223A"/>
                </a:solidFill>
                <a:latin typeface="Sarabun" pitchFamily="34" charset="0"/>
                <a:ea typeface="Sarabun" pitchFamily="34" charset="-122"/>
                <a:cs typeface="Sarabun" pitchFamily="34" charset="-120"/>
              </a:rPr>
              <a:t> เก็บ Channel access token และ Channel secret</a:t>
            </a:r>
            <a:endParaRPr lang="en-US" sz="1500" dirty="0"/>
          </a:p>
        </p:txBody>
      </p:sp>
      <p:sp>
        <p:nvSpPr>
          <p:cNvPr id="6" name="Text 4"/>
          <p:cNvSpPr/>
          <p:nvPr/>
        </p:nvSpPr>
        <p:spPr>
          <a:xfrm>
            <a:off x="812800" y="22681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2</a:t>
            </a:r>
            <a:endParaRPr lang="en-US" sz="1400" dirty="0"/>
          </a:p>
        </p:txBody>
      </p:sp>
      <p:sp>
        <p:nvSpPr>
          <p:cNvPr id="7" name="Text 5"/>
          <p:cNvSpPr/>
          <p:nvPr/>
        </p:nvSpPr>
        <p:spPr>
          <a:xfrm>
            <a:off x="1371600" y="23300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ใน Prom ไปที่ </a:t>
            </a:r>
            <a:r>
              <a:rPr lang="en-US" sz="1500" b="1" dirty="0">
                <a:solidFill>
                  <a:srgbClr val="16223A"/>
                </a:solidFill>
                <a:latin typeface="Sarabun" pitchFamily="34" charset="0"/>
                <a:ea typeface="Sarabun" pitchFamily="34" charset="-122"/>
                <a:cs typeface="Sarabun" pitchFamily="34" charset="-120"/>
              </a:rPr>
              <a:t>Settings → Integrations → Create</a:t>
            </a:r>
            <a:r>
              <a:rPr lang="en-US" sz="1500" dirty="0">
                <a:solidFill>
                  <a:srgbClr val="16223A"/>
                </a:solidFill>
                <a:latin typeface="Sarabun" pitchFamily="34" charset="0"/>
                <a:ea typeface="Sarabun" pitchFamily="34" charset="-122"/>
                <a:cs typeface="Sarabun" pitchFamily="34" charset="-120"/>
              </a:rPr>
              <a:t> เลือก LINE แล้วใส่ token และ secret</a:t>
            </a:r>
            <a:endParaRPr lang="en-US" sz="1500" dirty="0"/>
          </a:p>
        </p:txBody>
      </p:sp>
      <p:sp>
        <p:nvSpPr>
          <p:cNvPr id="8" name="Text 6"/>
          <p:cNvSpPr/>
          <p:nvPr/>
        </p:nvSpPr>
        <p:spPr>
          <a:xfrm>
            <a:off x="812800" y="27380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3</a:t>
            </a:r>
            <a:endParaRPr lang="en-US" sz="1400" dirty="0"/>
          </a:p>
        </p:txBody>
      </p:sp>
      <p:sp>
        <p:nvSpPr>
          <p:cNvPr id="9" name="Text 7"/>
          <p:cNvSpPr/>
          <p:nvPr/>
        </p:nvSpPr>
        <p:spPr>
          <a:xfrm>
            <a:off x="1371600" y="27999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กด </a:t>
            </a:r>
            <a:r>
              <a:rPr lang="en-US" sz="1500" b="1" dirty="0">
                <a:solidFill>
                  <a:srgbClr val="16223A"/>
                </a:solidFill>
                <a:latin typeface="Sarabun" pitchFamily="34" charset="0"/>
                <a:ea typeface="Sarabun" pitchFamily="34" charset="-122"/>
                <a:cs typeface="Sarabun" pitchFamily="34" charset="-120"/>
              </a:rPr>
              <a:t>Test connection</a:t>
            </a:r>
            <a:r>
              <a:rPr lang="en-US" sz="1500" dirty="0">
                <a:solidFill>
                  <a:srgbClr val="16223A"/>
                </a:solidFill>
                <a:latin typeface="Sarabun" pitchFamily="34" charset="0"/>
                <a:ea typeface="Sarabun" pitchFamily="34" charset="-122"/>
                <a:cs typeface="Sarabun" pitchFamily="34" charset="-120"/>
              </a:rPr>
              <a:t> ต้องขึ้นว่าผ่าน</a:t>
            </a:r>
            <a:endParaRPr lang="en-US" sz="1500" dirty="0"/>
          </a:p>
        </p:txBody>
      </p:sp>
      <p:sp>
        <p:nvSpPr>
          <p:cNvPr id="10" name="Text 8"/>
          <p:cNvSpPr/>
          <p:nvPr/>
        </p:nvSpPr>
        <p:spPr>
          <a:xfrm>
            <a:off x="812800" y="32079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4</a:t>
            </a:r>
            <a:endParaRPr lang="en-US" sz="1400" dirty="0"/>
          </a:p>
        </p:txBody>
      </p:sp>
      <p:sp>
        <p:nvSpPr>
          <p:cNvPr id="11" name="Text 9"/>
          <p:cNvSpPr/>
          <p:nvPr/>
        </p:nvSpPr>
        <p:spPr>
          <a:xfrm>
            <a:off x="1371600" y="32698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กด </a:t>
            </a:r>
            <a:r>
              <a:rPr lang="en-US" sz="1500" b="1" dirty="0">
                <a:solidFill>
                  <a:srgbClr val="16223A"/>
                </a:solidFill>
                <a:latin typeface="Sarabun" pitchFamily="34" charset="0"/>
                <a:ea typeface="Sarabun" pitchFamily="34" charset="-122"/>
                <a:cs typeface="Sarabun" pitchFamily="34" charset="-120"/>
              </a:rPr>
              <a:t>Manage workspaces → Link this workspace</a:t>
            </a:r>
            <a:endParaRPr lang="en-US" sz="1500" dirty="0"/>
          </a:p>
        </p:txBody>
      </p:sp>
      <p:sp>
        <p:nvSpPr>
          <p:cNvPr id="12" name="Text 10"/>
          <p:cNvSpPr/>
          <p:nvPr/>
        </p:nvSpPr>
        <p:spPr>
          <a:xfrm>
            <a:off x="812800" y="36778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5</a:t>
            </a:r>
            <a:endParaRPr lang="en-US" sz="1400" dirty="0"/>
          </a:p>
        </p:txBody>
      </p:sp>
      <p:sp>
        <p:nvSpPr>
          <p:cNvPr id="13" name="Text 11"/>
          <p:cNvSpPr/>
          <p:nvPr/>
        </p:nvSpPr>
        <p:spPr>
          <a:xfrm>
            <a:off x="1371600" y="37397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นำ Webhook URL ไปใส่ใน LINE Developers แล้วเปิด </a:t>
            </a:r>
            <a:r>
              <a:rPr lang="en-US" sz="1500" b="1" dirty="0">
                <a:solidFill>
                  <a:srgbClr val="16223A"/>
                </a:solidFill>
                <a:latin typeface="Sarabun" pitchFamily="34" charset="0"/>
                <a:ea typeface="Sarabun" pitchFamily="34" charset="-122"/>
                <a:cs typeface="Sarabun" pitchFamily="34" charset="-120"/>
              </a:rPr>
              <a:t>Use webhook</a:t>
            </a:r>
            <a:endParaRPr lang="en-US" sz="1500" dirty="0"/>
          </a:p>
        </p:txBody>
      </p:sp>
      <p:sp>
        <p:nvSpPr>
          <p:cNvPr id="14" name="Text 12"/>
          <p:cNvSpPr/>
          <p:nvPr/>
        </p:nvSpPr>
        <p:spPr>
          <a:xfrm>
            <a:off x="812800" y="41477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E8742C"/>
          </a:solidFill>
          <a:ln/>
        </p:spPr>
        <p:txBody>
          <a:bodyPr wrap="square" lIns="0" tIns="0" rIns="0" bIns="0" rtlCol="0" anchor="t">
            <a:normAutofit/>
          </a:bodyPr>
          <a:lstStyle/>
          <a:p>
            <a:pPr algn="ctr" indent="0" marL="0">
              <a:lnSpc>
                <a:spcPts val="2996"/>
              </a:lnSpc>
              <a:buNone/>
            </a:pPr>
            <a:r>
              <a:rPr lang="en-US" sz="1400" b="1" dirty="0">
                <a:solidFill>
                  <a:srgbClr val="16223A"/>
                </a:solidFill>
                <a:latin typeface="Prompt" pitchFamily="34" charset="0"/>
                <a:ea typeface="Prompt" pitchFamily="34" charset="-122"/>
                <a:cs typeface="Prompt" pitchFamily="34" charset="-120"/>
              </a:rPr>
              <a:t>6</a:t>
            </a:r>
            <a:endParaRPr lang="en-US" sz="1400" dirty="0"/>
          </a:p>
        </p:txBody>
      </p:sp>
      <p:sp>
        <p:nvSpPr>
          <p:cNvPr id="15" name="Text 13"/>
          <p:cNvSpPr/>
          <p:nvPr/>
        </p:nvSpPr>
        <p:spPr>
          <a:xfrm>
            <a:off x="1371600" y="42096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แนะนำ: ปิด Auto-reply ใน LINE Official Account Manager</a:t>
            </a:r>
            <a:endParaRPr lang="en-US" sz="1500" dirty="0"/>
          </a:p>
        </p:txBody>
      </p:sp>
      <p:sp>
        <p:nvSpPr>
          <p:cNvPr id="16" name="Text 14"/>
          <p:cNvSpPr/>
          <p:nvPr/>
        </p:nvSpPr>
        <p:spPr>
          <a:xfrm>
            <a:off x="812800" y="46176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E8742C"/>
          </a:solidFill>
          <a:ln/>
        </p:spPr>
        <p:txBody>
          <a:bodyPr wrap="square" lIns="0" tIns="0" rIns="0" bIns="0" rtlCol="0" anchor="t">
            <a:normAutofit/>
          </a:bodyPr>
          <a:lstStyle/>
          <a:p>
            <a:pPr algn="ctr" indent="0" marL="0">
              <a:lnSpc>
                <a:spcPts val="2996"/>
              </a:lnSpc>
              <a:buNone/>
            </a:pPr>
            <a:r>
              <a:rPr lang="en-US" sz="1400" b="1" dirty="0">
                <a:solidFill>
                  <a:srgbClr val="16223A"/>
                </a:solidFill>
                <a:latin typeface="Prompt" pitchFamily="34" charset="0"/>
                <a:ea typeface="Prompt" pitchFamily="34" charset="-122"/>
                <a:cs typeface="Prompt" pitchFamily="34" charset="-120"/>
              </a:rPr>
              <a:t>7</a:t>
            </a:r>
            <a:endParaRPr lang="en-US" sz="1400" dirty="0"/>
          </a:p>
        </p:txBody>
      </p:sp>
      <p:sp>
        <p:nvSpPr>
          <p:cNvPr id="17" name="Text 15"/>
          <p:cNvSpPr/>
          <p:nvPr/>
        </p:nvSpPr>
        <p:spPr>
          <a:xfrm>
            <a:off x="1371600" y="4679553"/>
            <a:ext cx="1030782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ถ้าจะใช้แจ้งเตือนในกลุ่ม: เปิด </a:t>
            </a:r>
            <a:r>
              <a:rPr lang="en-US" sz="1500" b="1" dirty="0">
                <a:solidFill>
                  <a:srgbClr val="16223A"/>
                </a:solidFill>
                <a:latin typeface="Sarabun" pitchFamily="34" charset="0"/>
                <a:ea typeface="Sarabun" pitchFamily="34" charset="-122"/>
                <a:cs typeface="Sarabun" pitchFamily="34" charset="-120"/>
              </a:rPr>
              <a:t>Allow account to join groups</a:t>
            </a:r>
            <a:endParaRPr lang="en-US" sz="15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Webhook URL: /webhooks/v1/line/{installation_id}</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ADMIN · ขั้นที่ 1</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เชื่อม Discord</a:t>
            </a:r>
            <a:endParaRPr lang="en-US" sz="3200" dirty="0"/>
          </a:p>
        </p:txBody>
      </p:sp>
      <p:sp>
        <p:nvSpPr>
          <p:cNvPr id="4" name="Text 2"/>
          <p:cNvSpPr/>
          <p:nvPr/>
        </p:nvSpPr>
        <p:spPr>
          <a:xfrm>
            <a:off x="812800" y="17982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1</a:t>
            </a:r>
            <a:endParaRPr lang="en-US" sz="1400" dirty="0"/>
          </a:p>
        </p:txBody>
      </p:sp>
      <p:sp>
        <p:nvSpPr>
          <p:cNvPr id="5" name="Text 3"/>
          <p:cNvSpPr/>
          <p:nvPr/>
        </p:nvSpPr>
        <p:spPr>
          <a:xfrm>
            <a:off x="1371600" y="1860153"/>
            <a:ext cx="54521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สร้าง Application และ Bot ใน </a:t>
            </a:r>
            <a:r>
              <a:rPr lang="en-US" sz="1500" b="1" dirty="0">
                <a:solidFill>
                  <a:srgbClr val="16223A"/>
                </a:solidFill>
                <a:latin typeface="Sarabun" pitchFamily="34" charset="0"/>
                <a:ea typeface="Sarabun" pitchFamily="34" charset="-122"/>
                <a:cs typeface="Sarabun" pitchFamily="34" charset="-120"/>
              </a:rPr>
              <a:t>Discord Developer Portal</a:t>
            </a:r>
            <a:endParaRPr lang="en-US" sz="1500" dirty="0"/>
          </a:p>
        </p:txBody>
      </p:sp>
      <p:sp>
        <p:nvSpPr>
          <p:cNvPr id="6" name="Text 4"/>
          <p:cNvSpPr/>
          <p:nvPr/>
        </p:nvSpPr>
        <p:spPr>
          <a:xfrm>
            <a:off x="812800" y="228084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2</a:t>
            </a:r>
            <a:endParaRPr lang="en-US" sz="1400" dirty="0"/>
          </a:p>
        </p:txBody>
      </p:sp>
      <p:sp>
        <p:nvSpPr>
          <p:cNvPr id="7" name="Text 5"/>
          <p:cNvSpPr/>
          <p:nvPr/>
        </p:nvSpPr>
        <p:spPr>
          <a:xfrm>
            <a:off x="1371600" y="2342753"/>
            <a:ext cx="54521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เปิด </a:t>
            </a:r>
            <a:r>
              <a:rPr lang="en-US" sz="1500" b="1" dirty="0">
                <a:solidFill>
                  <a:srgbClr val="16223A"/>
                </a:solidFill>
                <a:latin typeface="Sarabun" pitchFamily="34" charset="0"/>
                <a:ea typeface="Sarabun" pitchFamily="34" charset="-122"/>
                <a:cs typeface="Sarabun" pitchFamily="34" charset="-120"/>
              </a:rPr>
              <a:t>Message Content Intent</a:t>
            </a:r>
            <a:endParaRPr lang="en-US" sz="1500" dirty="0"/>
          </a:p>
        </p:txBody>
      </p:sp>
      <p:sp>
        <p:nvSpPr>
          <p:cNvPr id="8" name="Text 6"/>
          <p:cNvSpPr/>
          <p:nvPr/>
        </p:nvSpPr>
        <p:spPr>
          <a:xfrm>
            <a:off x="812800" y="2830116"/>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3</a:t>
            </a:r>
            <a:endParaRPr lang="en-US" sz="1400" dirty="0"/>
          </a:p>
        </p:txBody>
      </p:sp>
      <p:sp>
        <p:nvSpPr>
          <p:cNvPr id="9" name="Text 7"/>
          <p:cNvSpPr/>
          <p:nvPr/>
        </p:nvSpPr>
        <p:spPr>
          <a:xfrm>
            <a:off x="1371600" y="2763441"/>
            <a:ext cx="545212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ใน Prom: </a:t>
            </a:r>
            <a:r>
              <a:rPr lang="en-US" sz="1500" b="1" dirty="0">
                <a:solidFill>
                  <a:srgbClr val="16223A"/>
                </a:solidFill>
                <a:latin typeface="Sarabun" pitchFamily="34" charset="0"/>
                <a:ea typeface="Sarabun" pitchFamily="34" charset="-122"/>
                <a:cs typeface="Sarabun" pitchFamily="34" charset="-120"/>
              </a:rPr>
              <a:t>Settings → Integrations → Create</a:t>
            </a:r>
            <a:r>
              <a:rPr lang="en-US" sz="1500" dirty="0">
                <a:solidFill>
                  <a:srgbClr val="16223A"/>
                </a:solidFill>
                <a:latin typeface="Sarabun" pitchFamily="34" charset="0"/>
                <a:ea typeface="Sarabun" pitchFamily="34" charset="-122"/>
                <a:cs typeface="Sarabun" pitchFamily="34" charset="-120"/>
              </a:rPr>
              <a:t> เลือก Discord แล้วใส่ Bot token</a:t>
            </a:r>
            <a:endParaRPr lang="en-US" sz="1500" dirty="0"/>
          </a:p>
        </p:txBody>
      </p:sp>
      <p:sp>
        <p:nvSpPr>
          <p:cNvPr id="10" name="Text 8"/>
          <p:cNvSpPr/>
          <p:nvPr/>
        </p:nvSpPr>
        <p:spPr>
          <a:xfrm>
            <a:off x="812800" y="337939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4</a:t>
            </a:r>
            <a:endParaRPr lang="en-US" sz="1400" dirty="0"/>
          </a:p>
        </p:txBody>
      </p:sp>
      <p:sp>
        <p:nvSpPr>
          <p:cNvPr id="11" name="Text 9"/>
          <p:cNvSpPr/>
          <p:nvPr/>
        </p:nvSpPr>
        <p:spPr>
          <a:xfrm>
            <a:off x="1371600" y="3441303"/>
            <a:ext cx="545212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23A"/>
                </a:solidFill>
                <a:latin typeface="Sarabun" pitchFamily="34" charset="0"/>
                <a:ea typeface="Sarabun" pitchFamily="34" charset="-122"/>
                <a:cs typeface="Sarabun" pitchFamily="34" charset="-120"/>
              </a:rPr>
              <a:t>Test connection</a:t>
            </a:r>
            <a:r>
              <a:rPr lang="en-US" sz="1500" dirty="0">
                <a:solidFill>
                  <a:srgbClr val="16223A"/>
                </a:solidFill>
                <a:latin typeface="Sarabun" pitchFamily="34" charset="0"/>
                <a:ea typeface="Sarabun" pitchFamily="34" charset="-122"/>
                <a:cs typeface="Sarabun" pitchFamily="34" charset="-120"/>
              </a:rPr>
              <a:t> แล้ว Link workspace</a:t>
            </a:r>
            <a:endParaRPr lang="en-US" sz="1500" dirty="0"/>
          </a:p>
        </p:txBody>
      </p:sp>
      <p:sp>
        <p:nvSpPr>
          <p:cNvPr id="12" name="Text 10"/>
          <p:cNvSpPr/>
          <p:nvPr/>
        </p:nvSpPr>
        <p:spPr>
          <a:xfrm>
            <a:off x="812800" y="3861991"/>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16223A"/>
          </a:solidFill>
          <a:ln/>
        </p:spPr>
        <p:txBody>
          <a:bodyPr wrap="square" lIns="0" tIns="0" rIns="0" bIns="0" rtlCol="0" anchor="t">
            <a:normAutofit/>
          </a:bodyPr>
          <a:lstStyle/>
          <a:p>
            <a:pPr algn="ctr" indent="0" marL="0">
              <a:lnSpc>
                <a:spcPts val="2996"/>
              </a:lnSpc>
              <a:buNone/>
            </a:pPr>
            <a:r>
              <a:rPr lang="en-US" sz="1400" b="1" dirty="0">
                <a:solidFill>
                  <a:srgbClr val="F6F5F0"/>
                </a:solidFill>
                <a:latin typeface="Prompt" pitchFamily="34" charset="0"/>
                <a:ea typeface="Prompt" pitchFamily="34" charset="-122"/>
                <a:cs typeface="Prompt" pitchFamily="34" charset="-120"/>
              </a:rPr>
              <a:t>5</a:t>
            </a:r>
            <a:endParaRPr lang="en-US" sz="1400" dirty="0"/>
          </a:p>
        </p:txBody>
      </p:sp>
      <p:sp>
        <p:nvSpPr>
          <p:cNvPr id="13" name="Text 11"/>
          <p:cNvSpPr/>
          <p:nvPr/>
        </p:nvSpPr>
        <p:spPr>
          <a:xfrm>
            <a:off x="1371600" y="3923903"/>
            <a:ext cx="545212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223A"/>
                </a:solidFill>
                <a:latin typeface="Sarabun" pitchFamily="34" charset="0"/>
                <a:ea typeface="Sarabun" pitchFamily="34" charset="-122"/>
                <a:cs typeface="Sarabun" pitchFamily="34" charset="-120"/>
              </a:rPr>
              <a:t>รีสตาร์ท Discord bot</a:t>
            </a:r>
            <a:endParaRPr lang="en-US" sz="1500" dirty="0"/>
          </a:p>
        </p:txBody>
      </p:sp>
      <p:sp>
        <p:nvSpPr>
          <p:cNvPr id="14" name="Text 12"/>
          <p:cNvSpPr/>
          <p:nvPr/>
        </p:nvSpPr>
        <p:spPr>
          <a:xfrm>
            <a:off x="812800" y="4411266"/>
            <a:ext cx="381000" cy="381000"/>
          </a:xfrm>
          <a:custGeom>
            <a:avLst/>
            <a:gdLst/>
            <a:ahLst/>
            <a:cxnLst/>
            <a:rect l="l" t="t" r="r" b="b"/>
            <a:pathLst>
              <a:path w="381000" h="381000">
                <a:moveTo>
                  <a:pt x="190500" y="0"/>
                </a:moveTo>
                <a:lnTo>
                  <a:pt x="190500" y="0"/>
                </a:lnTo>
                <a:arcTo hR="190500" wR="190500" stAng="16200000" swAng="5400000"/>
                <a:lnTo>
                  <a:pt x="381000" y="190500"/>
                </a:lnTo>
                <a:arcTo hR="190500" wR="190500" stAng="0" swAng="5400000"/>
                <a:lnTo>
                  <a:pt x="190500" y="381000"/>
                </a:lnTo>
                <a:arcTo hR="190500" wR="190500" stAng="5400000" swAng="5400000"/>
                <a:lnTo>
                  <a:pt x="0" y="190500"/>
                </a:lnTo>
                <a:arcTo hR="190500" wR="190500" stAng="10800000" swAng="5400000"/>
                <a:close/>
              </a:path>
            </a:pathLst>
          </a:custGeom>
          <a:solidFill>
            <a:srgbClr val="E8742C"/>
          </a:solidFill>
          <a:ln/>
        </p:spPr>
        <p:txBody>
          <a:bodyPr wrap="square" lIns="0" tIns="0" rIns="0" bIns="0" rtlCol="0" anchor="t">
            <a:normAutofit/>
          </a:bodyPr>
          <a:lstStyle/>
          <a:p>
            <a:pPr algn="ctr" indent="0" marL="0">
              <a:lnSpc>
                <a:spcPts val="2996"/>
              </a:lnSpc>
              <a:buNone/>
            </a:pPr>
            <a:r>
              <a:rPr lang="en-US" sz="1400" b="1" dirty="0">
                <a:solidFill>
                  <a:srgbClr val="16223A"/>
                </a:solidFill>
                <a:latin typeface="Prompt" pitchFamily="34" charset="0"/>
                <a:ea typeface="Prompt" pitchFamily="34" charset="-122"/>
                <a:cs typeface="Prompt" pitchFamily="34" charset="-120"/>
              </a:rPr>
              <a:t>6</a:t>
            </a:r>
            <a:endParaRPr lang="en-US" sz="1400" dirty="0"/>
          </a:p>
        </p:txBody>
      </p:sp>
      <p:sp>
        <p:nvSpPr>
          <p:cNvPr id="15" name="Text 13"/>
          <p:cNvSpPr/>
          <p:nvPr/>
        </p:nvSpPr>
        <p:spPr>
          <a:xfrm>
            <a:off x="1371600" y="4344591"/>
            <a:ext cx="545212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ถ้าจะใช้แจ้งเตือนในช่องแชท: เชิญบอทเข้า server พร้อมสิทธิ์ Send Messages</a:t>
            </a:r>
            <a:endParaRPr lang="en-US" sz="1500" dirty="0"/>
          </a:p>
        </p:txBody>
      </p:sp>
      <p:sp>
        <p:nvSpPr>
          <p:cNvPr id="16" name="Shape 14"/>
          <p:cNvSpPr/>
          <p:nvPr/>
        </p:nvSpPr>
        <p:spPr>
          <a:xfrm>
            <a:off x="6969720" y="1798241"/>
            <a:ext cx="4409480" cy="3060700"/>
          </a:xfrm>
          <a:prstGeom prst="roundRect">
            <a:avLst>
              <a:gd name="adj" fmla="val 4149"/>
            </a:avLst>
          </a:prstGeom>
          <a:solidFill>
            <a:srgbClr val="FBE3D3"/>
          </a:solidFill>
          <a:ln/>
        </p:spPr>
      </p:sp>
      <p:pic>
        <p:nvPicPr>
          <p:cNvPr id="17" name="Image 0" descr="Warning">    </p:cNvPr>
          <p:cNvPicPr>
            <a:picLocks noChangeAspect="1"/>
          </p:cNvPicPr>
          <p:nvPr/>
        </p:nvPicPr>
        <p:blipFill>
          <a:blip r:embed="rId1"/>
          <a:srcRect l="0" r="0" t="0" b="0"/>
          <a:stretch/>
        </p:blipFill>
        <p:spPr>
          <a:xfrm>
            <a:off x="7223720" y="2052241"/>
            <a:ext cx="330200" cy="330200"/>
          </a:xfrm>
          <a:prstGeom prst="rect">
            <a:avLst/>
          </a:prstGeom>
        </p:spPr>
      </p:pic>
      <p:sp>
        <p:nvSpPr>
          <p:cNvPr id="18" name="Text 15"/>
          <p:cNvSpPr/>
          <p:nvPr/>
        </p:nvSpPr>
        <p:spPr>
          <a:xfrm>
            <a:off x="7223720" y="2509441"/>
            <a:ext cx="40185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3A"/>
                </a:solidFill>
                <a:latin typeface="Prompt" pitchFamily="34" charset="0"/>
                <a:ea typeface="Prompt" pitchFamily="34" charset="-122"/>
                <a:cs typeface="Prompt" pitchFamily="34" charset="-120"/>
              </a:rPr>
              <a:t>ข้อควรระวัง</a:t>
            </a:r>
            <a:endParaRPr lang="en-US" sz="1800" dirty="0"/>
          </a:p>
        </p:txBody>
      </p:sp>
      <p:sp>
        <p:nvSpPr>
          <p:cNvPr id="19" name="Text 16"/>
          <p:cNvSpPr/>
          <p:nvPr/>
        </p:nvSpPr>
        <p:spPr>
          <a:xfrm>
            <a:off x="7223720" y="2910681"/>
            <a:ext cx="401852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2A20"/>
                </a:solidFill>
                <a:latin typeface="Sarabun" pitchFamily="34" charset="0"/>
                <a:ea typeface="Sarabun" pitchFamily="34" charset="-122"/>
                <a:cs typeface="Sarabun" pitchFamily="34" charset="-120"/>
              </a:rPr>
              <a:t>ไม่เปิด Message Content Intent → บอทอ่านข้อความที่พิมพ์ไม่ได้</a:t>
            </a:r>
            <a:endParaRPr lang="en-US" sz="1400" dirty="0"/>
          </a:p>
        </p:txBody>
      </p:sp>
      <p:sp>
        <p:nvSpPr>
          <p:cNvPr id="20" name="Text 17"/>
          <p:cNvSpPr/>
          <p:nvPr/>
        </p:nvSpPr>
        <p:spPr>
          <a:xfrm>
            <a:off x="7223720" y="3553222"/>
            <a:ext cx="401852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A2A20"/>
                </a:solidFill>
                <a:latin typeface="Sarabun" pitchFamily="34" charset="0"/>
                <a:ea typeface="Sarabun" pitchFamily="34" charset="-122"/>
                <a:cs typeface="Sarabun" pitchFamily="34" charset="-120"/>
              </a:rPr>
              <a:t>บอทโหลดรายการ installation ตอนเริ่มทำงานเท่านั้น เพิ่มหรือเพิกถอนแล้ว ต้องรีสตาร์ท</a:t>
            </a:r>
            <a:endParaRPr lang="en-US" sz="1400" dirty="0"/>
          </a:p>
        </p:txBody>
      </p:sp>
      <p:sp>
        <p:nvSpPr>
          <p:cNvPr id="21"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Discord ใช้ Gateway (WebSocket) จึงไม่ต้องตั้ง Webhook URL</a:t>
            </a:r>
            <a:endParaRPr lang="en-US" sz="1200" dirty="0"/>
          </a:p>
        </p:txBody>
      </p:sp>
      <p:sp>
        <p:nvSpPr>
          <p:cNvPr id="22"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ADMIN · ขั้นที่ 2</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Plane Webhook และการตั้งค่า AI</a:t>
            </a:r>
            <a:endParaRPr lang="en-US" sz="3200" dirty="0"/>
          </a:p>
        </p:txBody>
      </p:sp>
      <p:sp>
        <p:nvSpPr>
          <p:cNvPr id="4" name="Shape 2"/>
          <p:cNvSpPr/>
          <p:nvPr/>
        </p:nvSpPr>
        <p:spPr>
          <a:xfrm>
            <a:off x="815975" y="1877616"/>
            <a:ext cx="5175250" cy="3099792"/>
          </a:xfrm>
          <a:prstGeom prst="roundRect">
            <a:avLst>
              <a:gd name="adj" fmla="val 3995"/>
            </a:avLst>
          </a:prstGeom>
          <a:solidFill>
            <a:srgbClr val="FFFDF8"/>
          </a:solidFill>
          <a:ln w="6350">
            <a:solidFill>
              <a:srgbClr val="E2E0D8"/>
            </a:solidFill>
            <a:prstDash val="solid"/>
          </a:ln>
        </p:spPr>
      </p:sp>
      <p:pic>
        <p:nvPicPr>
          <p:cNvPr id="5" name="Image 0" descr="Link">    </p:cNvPr>
          <p:cNvPicPr>
            <a:picLocks noChangeAspect="1"/>
          </p:cNvPicPr>
          <p:nvPr/>
        </p:nvPicPr>
        <p:blipFill>
          <a:blip r:embed="rId1"/>
          <a:srcRect l="0" r="0" t="0" b="0"/>
          <a:stretch/>
        </p:blipFill>
        <p:spPr>
          <a:xfrm>
            <a:off x="1098550" y="2160191"/>
            <a:ext cx="330200" cy="330200"/>
          </a:xfrm>
          <a:prstGeom prst="rect">
            <a:avLst/>
          </a:prstGeom>
        </p:spPr>
      </p:pic>
      <p:sp>
        <p:nvSpPr>
          <p:cNvPr id="6" name="Text 3"/>
          <p:cNvSpPr/>
          <p:nvPr/>
        </p:nvSpPr>
        <p:spPr>
          <a:xfrm>
            <a:off x="1098550" y="2617391"/>
            <a:ext cx="4748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3A"/>
                </a:solidFill>
                <a:latin typeface="Prompt" pitchFamily="34" charset="0"/>
                <a:ea typeface="Prompt" pitchFamily="34" charset="-122"/>
                <a:cs typeface="Prompt" pitchFamily="34" charset="-120"/>
              </a:rPr>
              <a:t>Plane Webhook (แจ้งเตือน)</a:t>
            </a:r>
            <a:endParaRPr lang="en-US" sz="2000" dirty="0"/>
          </a:p>
        </p:txBody>
      </p:sp>
      <p:sp>
        <p:nvSpPr>
          <p:cNvPr id="7" name="Text 4"/>
          <p:cNvSpPr/>
          <p:nvPr/>
        </p:nvSpPr>
        <p:spPr>
          <a:xfrm>
            <a:off x="1170432" y="3049191"/>
            <a:ext cx="4668901" cy="851991"/>
          </a:xfrm>
          <a:prstGeom prst="rect">
            <a:avLst/>
          </a:prstGeom>
          <a:noFill/>
          <a:ln/>
        </p:spPr>
        <p:txBody>
          <a:bodyPr wrap="square" lIns="0" tIns="0" rIns="0" bIns="0" rtlCol="0" anchor="t">
            <a:normAutofit/>
          </a:bodyPr>
          <a:lstStyle/>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สร้าง Webhook ใน Plane ชี้ไปที่ Hub</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ใส่ secret ให้ Hub เพื่อตรวจลายเซ็น</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ลายเซ็นไม่ถูกต้อง → Hub ไม่รับ request</a:t>
            </a:r>
            <a:endParaRPr lang="en-US" sz="1400" dirty="0"/>
          </a:p>
        </p:txBody>
      </p:sp>
      <p:sp>
        <p:nvSpPr>
          <p:cNvPr id="8" name="Text 5"/>
          <p:cNvSpPr/>
          <p:nvPr/>
        </p:nvSpPr>
        <p:spPr>
          <a:xfrm>
            <a:off x="1098550" y="4002782"/>
            <a:ext cx="4610100" cy="416520"/>
          </a:xfrm>
          <a:prstGeom prst="roundRect">
            <a:avLst>
              <a:gd name="adj" fmla="val 18294"/>
            </a:avLst>
          </a:prstGeom>
          <a:solidFill>
            <a:srgbClr val="E3E8F0"/>
          </a:solidFill>
          <a:ln/>
        </p:spPr>
        <p:txBody>
          <a:bodyPr wrap="square" lIns="104682" tIns="79282" rIns="0" bIns="53882" rtlCol="0" anchor="t">
            <a:normAutofit/>
          </a:bodyPr>
          <a:lstStyle/>
          <a:p>
            <a:pPr algn="l" indent="0" marL="0">
              <a:lnSpc>
                <a:spcPts val="1680"/>
              </a:lnSpc>
              <a:buNone/>
            </a:pPr>
            <a:r>
              <a:rPr lang="en-US" sz="1200" dirty="0">
                <a:solidFill>
                  <a:srgbClr val="2F5FBF"/>
                </a:solidFill>
                <a:latin typeface="Sarabun" pitchFamily="34" charset="0"/>
                <a:ea typeface="Sarabun" pitchFamily="34" charset="-122"/>
                <a:cs typeface="Sarabun" pitchFamily="34" charset="-120"/>
              </a:rPr>
              <a:t>/webhooks/v1/prom/{workspace_connection_id}</a:t>
            </a:r>
            <a:endParaRPr lang="en-US" sz="1200" dirty="0"/>
          </a:p>
        </p:txBody>
      </p:sp>
      <p:sp>
        <p:nvSpPr>
          <p:cNvPr id="9" name="Shape 6"/>
          <p:cNvSpPr/>
          <p:nvPr/>
        </p:nvSpPr>
        <p:spPr>
          <a:xfrm>
            <a:off x="6200775" y="1877616"/>
            <a:ext cx="5175250" cy="3099792"/>
          </a:xfrm>
          <a:prstGeom prst="roundRect">
            <a:avLst>
              <a:gd name="adj" fmla="val 3995"/>
            </a:avLst>
          </a:prstGeom>
          <a:solidFill>
            <a:srgbClr val="FFFDF8"/>
          </a:solidFill>
          <a:ln w="6350">
            <a:solidFill>
              <a:srgbClr val="E2E0D8"/>
            </a:solidFill>
            <a:prstDash val="solid"/>
          </a:ln>
        </p:spPr>
      </p:sp>
      <p:pic>
        <p:nvPicPr>
          <p:cNvPr id="10" name="Image 1" descr="Settings">    </p:cNvPr>
          <p:cNvPicPr>
            <a:picLocks noChangeAspect="1"/>
          </p:cNvPicPr>
          <p:nvPr/>
        </p:nvPicPr>
        <p:blipFill>
          <a:blip r:embed="rId2"/>
          <a:srcRect l="0" r="0" t="0" b="0"/>
          <a:stretch/>
        </p:blipFill>
        <p:spPr>
          <a:xfrm>
            <a:off x="6483350" y="2160191"/>
            <a:ext cx="330200" cy="330200"/>
          </a:xfrm>
          <a:prstGeom prst="rect">
            <a:avLst/>
          </a:prstGeom>
        </p:spPr>
      </p:pic>
      <p:sp>
        <p:nvSpPr>
          <p:cNvPr id="11" name="Text 7"/>
          <p:cNvSpPr/>
          <p:nvPr/>
        </p:nvSpPr>
        <p:spPr>
          <a:xfrm>
            <a:off x="6483350" y="2617391"/>
            <a:ext cx="4748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23A"/>
                </a:solidFill>
                <a:latin typeface="Prompt" pitchFamily="34" charset="0"/>
                <a:ea typeface="Prompt" pitchFamily="34" charset="-122"/>
                <a:cs typeface="Prompt" pitchFamily="34" charset="-120"/>
              </a:rPr>
              <a:t>Settings → AI Assistant</a:t>
            </a:r>
            <a:endParaRPr lang="en-US" sz="2000" dirty="0"/>
          </a:p>
        </p:txBody>
      </p:sp>
      <p:sp>
        <p:nvSpPr>
          <p:cNvPr id="12" name="Text 8"/>
          <p:cNvSpPr/>
          <p:nvPr/>
        </p:nvSpPr>
        <p:spPr>
          <a:xfrm>
            <a:off x="6555232" y="3049191"/>
            <a:ext cx="4668901" cy="1127522"/>
          </a:xfrm>
          <a:prstGeom prst="rect">
            <a:avLst/>
          </a:prstGeom>
          <a:noFill/>
          <a:ln/>
        </p:spPr>
        <p:txBody>
          <a:bodyPr wrap="square" lIns="0" tIns="0" rIns="0" bIns="0" rtlCol="0" anchor="t">
            <a:normAutofit/>
          </a:bodyPr>
          <a:lstStyle/>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Admin เท่านั้น</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เปิด/ปิด AI, Base URL, API key, เลือกโมเดล</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ปุ่ม Test connection ทดสอบได้ทันที</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API key ถูกเข้ารหัส ไม่แสดงกลับบนหน้าเว็บ</a:t>
            </a:r>
            <a:endParaRPr lang="en-US" sz="1400" dirty="0"/>
          </a:p>
        </p:txBody>
      </p:sp>
      <p:sp>
        <p:nvSpPr>
          <p:cNvPr id="13" name="Text 9"/>
          <p:cNvSpPr/>
          <p:nvPr/>
        </p:nvSpPr>
        <p:spPr>
          <a:xfrm>
            <a:off x="6483350" y="4278313"/>
            <a:ext cx="4610100" cy="416520"/>
          </a:xfrm>
          <a:prstGeom prst="roundRect">
            <a:avLst>
              <a:gd name="adj" fmla="val 18294"/>
            </a:avLst>
          </a:prstGeom>
          <a:solidFill>
            <a:srgbClr val="E3E8F0"/>
          </a:solidFill>
          <a:ln/>
        </p:spPr>
        <p:txBody>
          <a:bodyPr wrap="square" lIns="104682" tIns="79282" rIns="0" bIns="53882" rtlCol="0" anchor="t">
            <a:normAutofit/>
          </a:bodyPr>
          <a:lstStyle/>
          <a:p>
            <a:pPr algn="l" indent="0" marL="0">
              <a:lnSpc>
                <a:spcPts val="1680"/>
              </a:lnSpc>
              <a:buNone/>
            </a:pPr>
            <a:r>
              <a:rPr lang="en-US" sz="1200" dirty="0">
                <a:solidFill>
                  <a:srgbClr val="2F5FBF"/>
                </a:solidFill>
                <a:latin typeface="Sarabun" pitchFamily="34" charset="0"/>
                <a:ea typeface="Sarabun" pitchFamily="34" charset="-122"/>
                <a:cs typeface="Sarabun" pitchFamily="34" charset="-120"/>
              </a:rPr>
              <a:t>https://aihub.ntaisolution.com/core-api/v1</a:t>
            </a:r>
            <a:endParaRPr lang="en-US" sz="1200" dirty="0"/>
          </a:p>
        </p:txBody>
      </p:sp>
      <p:sp>
        <p:nvSpPr>
          <p:cNvPr id="14"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15"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ผู้ใช้ · ผูกบัญชี</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ผูกบัญชีแชทกับบัญชี Prom</a:t>
            </a:r>
            <a:endParaRPr lang="en-US" sz="3200" dirty="0"/>
          </a:p>
        </p:txBody>
      </p:sp>
      <p:sp>
        <p:nvSpPr>
          <p:cNvPr id="4" name="Shape 2"/>
          <p:cNvSpPr/>
          <p:nvPr/>
        </p:nvSpPr>
        <p:spPr>
          <a:xfrm>
            <a:off x="812800" y="1849041"/>
            <a:ext cx="1991320" cy="1655763"/>
          </a:xfrm>
          <a:prstGeom prst="roundRect">
            <a:avLst>
              <a:gd name="adj" fmla="val 7670"/>
            </a:avLst>
          </a:prstGeom>
          <a:solidFill>
            <a:srgbClr val="FFFDF8"/>
          </a:solidFill>
          <a:ln/>
        </p:spPr>
      </p:sp>
      <p:sp>
        <p:nvSpPr>
          <p:cNvPr id="5" name="Text 3"/>
          <p:cNvSpPr/>
          <p:nvPr/>
        </p:nvSpPr>
        <p:spPr>
          <a:xfrm>
            <a:off x="1016000" y="2052241"/>
            <a:ext cx="163572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04A12"/>
                </a:solidFill>
                <a:latin typeface="Prompt" pitchFamily="34" charset="0"/>
                <a:ea typeface="Prompt" pitchFamily="34" charset="-122"/>
                <a:cs typeface="Prompt" pitchFamily="34" charset="-120"/>
              </a:rPr>
              <a:t>1</a:t>
            </a:r>
            <a:endParaRPr lang="en-US" sz="2400" dirty="0"/>
          </a:p>
        </p:txBody>
      </p:sp>
      <p:sp>
        <p:nvSpPr>
          <p:cNvPr id="6" name="Text 4"/>
          <p:cNvSpPr/>
          <p:nvPr/>
        </p:nvSpPr>
        <p:spPr>
          <a:xfrm>
            <a:off x="1016000" y="2555081"/>
            <a:ext cx="163572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23A"/>
                </a:solidFill>
                <a:latin typeface="Sarabun" pitchFamily="34" charset="0"/>
                <a:ea typeface="Sarabun" pitchFamily="34" charset="-122"/>
                <a:cs typeface="Sarabun" pitchFamily="34" charset="-120"/>
              </a:rPr>
              <a:t>เปิด Profile → Settings → Connected Accounts</a:t>
            </a:r>
            <a:endParaRPr lang="en-US" sz="1400" dirty="0"/>
          </a:p>
        </p:txBody>
      </p:sp>
      <p:sp>
        <p:nvSpPr>
          <p:cNvPr id="7" name="Shape 5"/>
          <p:cNvSpPr/>
          <p:nvPr/>
        </p:nvSpPr>
        <p:spPr>
          <a:xfrm>
            <a:off x="2956520" y="1849041"/>
            <a:ext cx="1991420" cy="1655763"/>
          </a:xfrm>
          <a:prstGeom prst="roundRect">
            <a:avLst>
              <a:gd name="adj" fmla="val 7670"/>
            </a:avLst>
          </a:prstGeom>
          <a:solidFill>
            <a:srgbClr val="FFFDF8"/>
          </a:solidFill>
          <a:ln/>
        </p:spPr>
      </p:sp>
      <p:sp>
        <p:nvSpPr>
          <p:cNvPr id="8" name="Text 6"/>
          <p:cNvSpPr/>
          <p:nvPr/>
        </p:nvSpPr>
        <p:spPr>
          <a:xfrm>
            <a:off x="3159720" y="2052241"/>
            <a:ext cx="163582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04A12"/>
                </a:solidFill>
                <a:latin typeface="Prompt" pitchFamily="34" charset="0"/>
                <a:ea typeface="Prompt" pitchFamily="34" charset="-122"/>
                <a:cs typeface="Prompt" pitchFamily="34" charset="-120"/>
              </a:rPr>
              <a:t>2</a:t>
            </a:r>
            <a:endParaRPr lang="en-US" sz="2400" dirty="0"/>
          </a:p>
        </p:txBody>
      </p:sp>
      <p:sp>
        <p:nvSpPr>
          <p:cNvPr id="9" name="Text 7"/>
          <p:cNvSpPr/>
          <p:nvPr/>
        </p:nvSpPr>
        <p:spPr>
          <a:xfrm>
            <a:off x="3159720" y="2555081"/>
            <a:ext cx="163582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23A"/>
                </a:solidFill>
                <a:latin typeface="Sarabun" pitchFamily="34" charset="0"/>
                <a:ea typeface="Sarabun" pitchFamily="34" charset="-122"/>
                <a:cs typeface="Sarabun" pitchFamily="34" charset="-120"/>
              </a:rPr>
              <a:t>กด Connect เลือก Workspace และช่องทาง</a:t>
            </a:r>
            <a:endParaRPr lang="en-US" sz="1400" dirty="0"/>
          </a:p>
        </p:txBody>
      </p:sp>
      <p:sp>
        <p:nvSpPr>
          <p:cNvPr id="10" name="Shape 8"/>
          <p:cNvSpPr/>
          <p:nvPr/>
        </p:nvSpPr>
        <p:spPr>
          <a:xfrm>
            <a:off x="5100340" y="1849041"/>
            <a:ext cx="1991320" cy="1655763"/>
          </a:xfrm>
          <a:prstGeom prst="roundRect">
            <a:avLst>
              <a:gd name="adj" fmla="val 7670"/>
            </a:avLst>
          </a:prstGeom>
          <a:solidFill>
            <a:srgbClr val="FFFDF8"/>
          </a:solidFill>
          <a:ln/>
        </p:spPr>
      </p:sp>
      <p:sp>
        <p:nvSpPr>
          <p:cNvPr id="11" name="Text 9"/>
          <p:cNvSpPr/>
          <p:nvPr/>
        </p:nvSpPr>
        <p:spPr>
          <a:xfrm>
            <a:off x="5303540" y="2052241"/>
            <a:ext cx="163572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04A12"/>
                </a:solidFill>
                <a:latin typeface="Prompt" pitchFamily="34" charset="0"/>
                <a:ea typeface="Prompt" pitchFamily="34" charset="-122"/>
                <a:cs typeface="Prompt" pitchFamily="34" charset="-120"/>
              </a:rPr>
              <a:t>3</a:t>
            </a:r>
            <a:endParaRPr lang="en-US" sz="2400" dirty="0"/>
          </a:p>
        </p:txBody>
      </p:sp>
      <p:sp>
        <p:nvSpPr>
          <p:cNvPr id="12" name="Text 10"/>
          <p:cNvSpPr/>
          <p:nvPr/>
        </p:nvSpPr>
        <p:spPr>
          <a:xfrm>
            <a:off x="5303540" y="2555081"/>
            <a:ext cx="17881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23A"/>
                </a:solidFill>
                <a:latin typeface="Sarabun" pitchFamily="34" charset="0"/>
                <a:ea typeface="Sarabun" pitchFamily="34" charset="-122"/>
                <a:cs typeface="Sarabun" pitchFamily="34" charset="-120"/>
              </a:rPr>
              <a:t>ระบบออก รหัส 6 หลัก</a:t>
            </a:r>
            <a:endParaRPr lang="en-US" sz="1400" dirty="0"/>
          </a:p>
        </p:txBody>
      </p:sp>
      <p:sp>
        <p:nvSpPr>
          <p:cNvPr id="13" name="Shape 11"/>
          <p:cNvSpPr/>
          <p:nvPr/>
        </p:nvSpPr>
        <p:spPr>
          <a:xfrm>
            <a:off x="7244060" y="1849041"/>
            <a:ext cx="1991420" cy="1655763"/>
          </a:xfrm>
          <a:prstGeom prst="roundRect">
            <a:avLst>
              <a:gd name="adj" fmla="val 7670"/>
            </a:avLst>
          </a:prstGeom>
          <a:solidFill>
            <a:srgbClr val="FFFDF8"/>
          </a:solidFill>
          <a:ln/>
        </p:spPr>
      </p:sp>
      <p:sp>
        <p:nvSpPr>
          <p:cNvPr id="14" name="Text 12"/>
          <p:cNvSpPr/>
          <p:nvPr/>
        </p:nvSpPr>
        <p:spPr>
          <a:xfrm>
            <a:off x="7447260" y="2052241"/>
            <a:ext cx="163582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04A12"/>
                </a:solidFill>
                <a:latin typeface="Prompt" pitchFamily="34" charset="0"/>
                <a:ea typeface="Prompt" pitchFamily="34" charset="-122"/>
                <a:cs typeface="Prompt" pitchFamily="34" charset="-120"/>
              </a:rPr>
              <a:t>4</a:t>
            </a:r>
            <a:endParaRPr lang="en-US" sz="2400" dirty="0"/>
          </a:p>
        </p:txBody>
      </p:sp>
      <p:sp>
        <p:nvSpPr>
          <p:cNvPr id="15" name="Text 13"/>
          <p:cNvSpPr/>
          <p:nvPr/>
        </p:nvSpPr>
        <p:spPr>
          <a:xfrm>
            <a:off x="7447260" y="2555081"/>
            <a:ext cx="163582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23A"/>
                </a:solidFill>
                <a:latin typeface="Sarabun" pitchFamily="34" charset="0"/>
                <a:ea typeface="Sarabun" pitchFamily="34" charset="-122"/>
                <a:cs typeface="Sarabun" pitchFamily="34" charset="-120"/>
              </a:rPr>
              <a:t>ส่งรหัสในแชท ส่วนตัวกับบอท LINE หรือ DM บอท Discord</a:t>
            </a:r>
            <a:endParaRPr lang="en-US" sz="1400" dirty="0"/>
          </a:p>
        </p:txBody>
      </p:sp>
      <p:sp>
        <p:nvSpPr>
          <p:cNvPr id="16" name="Shape 14"/>
          <p:cNvSpPr/>
          <p:nvPr/>
        </p:nvSpPr>
        <p:spPr>
          <a:xfrm>
            <a:off x="9387880" y="1849041"/>
            <a:ext cx="1991320" cy="1655763"/>
          </a:xfrm>
          <a:prstGeom prst="roundRect">
            <a:avLst>
              <a:gd name="adj" fmla="val 7670"/>
            </a:avLst>
          </a:prstGeom>
          <a:solidFill>
            <a:srgbClr val="FFFDF8"/>
          </a:solidFill>
          <a:ln/>
        </p:spPr>
      </p:sp>
      <p:sp>
        <p:nvSpPr>
          <p:cNvPr id="17" name="Text 15"/>
          <p:cNvSpPr/>
          <p:nvPr/>
        </p:nvSpPr>
        <p:spPr>
          <a:xfrm>
            <a:off x="9591080" y="2052241"/>
            <a:ext cx="163572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04A12"/>
                </a:solidFill>
                <a:latin typeface="Prompt" pitchFamily="34" charset="0"/>
                <a:ea typeface="Prompt" pitchFamily="34" charset="-122"/>
                <a:cs typeface="Prompt" pitchFamily="34" charset="-120"/>
              </a:rPr>
              <a:t>5</a:t>
            </a:r>
            <a:endParaRPr lang="en-US" sz="2400" dirty="0"/>
          </a:p>
        </p:txBody>
      </p:sp>
      <p:sp>
        <p:nvSpPr>
          <p:cNvPr id="18" name="Text 16"/>
          <p:cNvSpPr/>
          <p:nvPr/>
        </p:nvSpPr>
        <p:spPr>
          <a:xfrm>
            <a:off x="9591080" y="2555081"/>
            <a:ext cx="163572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23A"/>
                </a:solidFill>
                <a:latin typeface="Sarabun" pitchFamily="34" charset="0"/>
                <a:ea typeface="Sarabun" pitchFamily="34" charset="-122"/>
                <a:cs typeface="Sarabun" pitchFamily="34" charset="-120"/>
              </a:rPr>
              <a:t>บอทตอบ ผูกสำเร็จ บัญชีขึ้น ในหน้าเว็บ</a:t>
            </a:r>
            <a:endParaRPr lang="en-US" sz="1400" dirty="0"/>
          </a:p>
        </p:txBody>
      </p:sp>
      <p:sp>
        <p:nvSpPr>
          <p:cNvPr id="19" name="Shape 17"/>
          <p:cNvSpPr/>
          <p:nvPr/>
        </p:nvSpPr>
        <p:spPr>
          <a:xfrm>
            <a:off x="812800" y="3784203"/>
            <a:ext cx="3420467" cy="1160661"/>
          </a:xfrm>
          <a:prstGeom prst="roundRect">
            <a:avLst>
              <a:gd name="adj" fmla="val 10942"/>
            </a:avLst>
          </a:prstGeom>
          <a:solidFill>
            <a:srgbClr val="16223A"/>
          </a:solidFill>
          <a:ln/>
        </p:spPr>
      </p:sp>
      <p:sp>
        <p:nvSpPr>
          <p:cNvPr id="20" name="Text 18"/>
          <p:cNvSpPr/>
          <p:nvPr/>
        </p:nvSpPr>
        <p:spPr>
          <a:xfrm>
            <a:off x="1066800" y="3987403"/>
            <a:ext cx="2999841"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742C"/>
                </a:solidFill>
                <a:latin typeface="Prompt" pitchFamily="34" charset="0"/>
                <a:ea typeface="Prompt" pitchFamily="34" charset="-122"/>
                <a:cs typeface="Prompt" pitchFamily="34" charset="-120"/>
              </a:rPr>
              <a:t>6 หลัก</a:t>
            </a:r>
            <a:endParaRPr lang="en-US" sz="2800" dirty="0"/>
          </a:p>
        </p:txBody>
      </p:sp>
      <p:sp>
        <p:nvSpPr>
          <p:cNvPr id="21" name="Text 19"/>
          <p:cNvSpPr/>
          <p:nvPr/>
        </p:nvSpPr>
        <p:spPr>
          <a:xfrm>
            <a:off x="1066800" y="4510584"/>
            <a:ext cx="299984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รหัสตัวเลข</a:t>
            </a:r>
            <a:endParaRPr lang="en-US" sz="1300" dirty="0"/>
          </a:p>
        </p:txBody>
      </p:sp>
      <p:sp>
        <p:nvSpPr>
          <p:cNvPr id="22" name="Shape 20"/>
          <p:cNvSpPr/>
          <p:nvPr/>
        </p:nvSpPr>
        <p:spPr>
          <a:xfrm>
            <a:off x="4385667" y="3784203"/>
            <a:ext cx="3420566" cy="1160661"/>
          </a:xfrm>
          <a:prstGeom prst="roundRect">
            <a:avLst>
              <a:gd name="adj" fmla="val 10942"/>
            </a:avLst>
          </a:prstGeom>
          <a:solidFill>
            <a:srgbClr val="16223A"/>
          </a:solidFill>
          <a:ln/>
        </p:spPr>
      </p:sp>
      <p:sp>
        <p:nvSpPr>
          <p:cNvPr id="23" name="Text 21"/>
          <p:cNvSpPr/>
          <p:nvPr/>
        </p:nvSpPr>
        <p:spPr>
          <a:xfrm>
            <a:off x="4639667" y="3987403"/>
            <a:ext cx="2999943"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742C"/>
                </a:solidFill>
                <a:latin typeface="Prompt" pitchFamily="34" charset="0"/>
                <a:ea typeface="Prompt" pitchFamily="34" charset="-122"/>
                <a:cs typeface="Prompt" pitchFamily="34" charset="-120"/>
              </a:rPr>
              <a:t>10 นาที</a:t>
            </a:r>
            <a:endParaRPr lang="en-US" sz="2800" dirty="0"/>
          </a:p>
        </p:txBody>
      </p:sp>
      <p:sp>
        <p:nvSpPr>
          <p:cNvPr id="24" name="Text 22"/>
          <p:cNvSpPr/>
          <p:nvPr/>
        </p:nvSpPr>
        <p:spPr>
          <a:xfrm>
            <a:off x="4639667" y="4510584"/>
            <a:ext cx="299994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ก่อนรหัสหมดอายุ</a:t>
            </a:r>
            <a:endParaRPr lang="en-US" sz="1300" dirty="0"/>
          </a:p>
        </p:txBody>
      </p:sp>
      <p:sp>
        <p:nvSpPr>
          <p:cNvPr id="25" name="Shape 23"/>
          <p:cNvSpPr/>
          <p:nvPr/>
        </p:nvSpPr>
        <p:spPr>
          <a:xfrm>
            <a:off x="7958634" y="3784203"/>
            <a:ext cx="3420566" cy="1160661"/>
          </a:xfrm>
          <a:prstGeom prst="roundRect">
            <a:avLst>
              <a:gd name="adj" fmla="val 10942"/>
            </a:avLst>
          </a:prstGeom>
          <a:solidFill>
            <a:srgbClr val="16223A"/>
          </a:solidFill>
          <a:ln/>
        </p:spPr>
      </p:sp>
      <p:sp>
        <p:nvSpPr>
          <p:cNvPr id="26" name="Text 24"/>
          <p:cNvSpPr/>
          <p:nvPr/>
        </p:nvSpPr>
        <p:spPr>
          <a:xfrm>
            <a:off x="8212634" y="3987403"/>
            <a:ext cx="2999943"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8742C"/>
                </a:solidFill>
                <a:latin typeface="Prompt" pitchFamily="34" charset="0"/>
                <a:ea typeface="Prompt" pitchFamily="34" charset="-122"/>
                <a:cs typeface="Prompt" pitchFamily="34" charset="-120"/>
              </a:rPr>
              <a:t>1 ครั้ง</a:t>
            </a:r>
            <a:endParaRPr lang="en-US" sz="2800" dirty="0"/>
          </a:p>
        </p:txBody>
      </p:sp>
      <p:sp>
        <p:nvSpPr>
          <p:cNvPr id="27" name="Text 25"/>
          <p:cNvSpPr/>
          <p:nvPr/>
        </p:nvSpPr>
        <p:spPr>
          <a:xfrm>
            <a:off x="8212634" y="4510584"/>
            <a:ext cx="299994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ใช้ซ้ำไม่ได้</a:t>
            </a:r>
            <a:endParaRPr lang="en-US" sz="13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ใช้งานพื้นฐาน · ไม่ใช้ AI</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พิมพ์ “เมนู” แล้วเลือกจากปุ่ม</a:t>
            </a:r>
            <a:endParaRPr lang="en-US" sz="3200" dirty="0"/>
          </a:p>
        </p:txBody>
      </p:sp>
      <p:sp>
        <p:nvSpPr>
          <p:cNvPr id="4" name="Shape 2"/>
          <p:cNvSpPr/>
          <p:nvPr/>
        </p:nvSpPr>
        <p:spPr>
          <a:xfrm>
            <a:off x="815975" y="1801416"/>
            <a:ext cx="3414117" cy="1540371"/>
          </a:xfrm>
          <a:prstGeom prst="roundRect">
            <a:avLst>
              <a:gd name="adj" fmla="val 8039"/>
            </a:avLst>
          </a:prstGeom>
          <a:solidFill>
            <a:srgbClr val="FFFDF8"/>
          </a:solidFill>
          <a:ln w="6350">
            <a:solidFill>
              <a:srgbClr val="E2E0D8"/>
            </a:solidFill>
            <a:prstDash val="solid"/>
          </a:ln>
        </p:spPr>
      </p:sp>
      <p:pic>
        <p:nvPicPr>
          <p:cNvPr id="5" name="Image 0" descr="Lightning">    </p:cNvPr>
          <p:cNvPicPr>
            <a:picLocks noChangeAspect="1"/>
          </p:cNvPicPr>
          <p:nvPr/>
        </p:nvPicPr>
        <p:blipFill>
          <a:blip r:embed="rId1"/>
          <a:srcRect l="0" r="0" t="0" b="0"/>
          <a:stretch/>
        </p:blipFill>
        <p:spPr>
          <a:xfrm>
            <a:off x="1022350" y="2007791"/>
            <a:ext cx="279400" cy="279400"/>
          </a:xfrm>
          <a:prstGeom prst="rect">
            <a:avLst/>
          </a:prstGeom>
        </p:spPr>
      </p:pic>
      <p:sp>
        <p:nvSpPr>
          <p:cNvPr id="6" name="Text 3"/>
          <p:cNvSpPr/>
          <p:nvPr/>
        </p:nvSpPr>
        <p:spPr>
          <a:xfrm>
            <a:off x="1022350" y="2350691"/>
            <a:ext cx="30914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สร้างงาน</a:t>
            </a:r>
            <a:endParaRPr lang="en-US" sz="1700" dirty="0"/>
          </a:p>
        </p:txBody>
      </p:sp>
      <p:sp>
        <p:nvSpPr>
          <p:cNvPr id="7" name="Text 4"/>
          <p:cNvSpPr/>
          <p:nvPr/>
        </p:nvSpPr>
        <p:spPr>
          <a:xfrm>
            <a:off x="1022350" y="2673251"/>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Project → ชื่องาน → สถานะ ผู้รับผิดชอบ วันส่ง → ยืนยัน</a:t>
            </a:r>
            <a:endParaRPr lang="en-US" sz="1300" dirty="0"/>
          </a:p>
        </p:txBody>
      </p:sp>
      <p:sp>
        <p:nvSpPr>
          <p:cNvPr id="8" name="Shape 5"/>
          <p:cNvSpPr/>
          <p:nvPr/>
        </p:nvSpPr>
        <p:spPr>
          <a:xfrm>
            <a:off x="4388842" y="1801416"/>
            <a:ext cx="3414216" cy="1540371"/>
          </a:xfrm>
          <a:prstGeom prst="roundRect">
            <a:avLst>
              <a:gd name="adj" fmla="val 8039"/>
            </a:avLst>
          </a:prstGeom>
          <a:solidFill>
            <a:srgbClr val="FFFDF8"/>
          </a:solidFill>
          <a:ln w="6350">
            <a:solidFill>
              <a:srgbClr val="E2E0D8"/>
            </a:solidFill>
            <a:prstDash val="solid"/>
          </a:ln>
        </p:spPr>
      </p:sp>
      <p:pic>
        <p:nvPicPr>
          <p:cNvPr id="9" name="Image 1" descr="Book">    </p:cNvPr>
          <p:cNvPicPr>
            <a:picLocks noChangeAspect="1"/>
          </p:cNvPicPr>
          <p:nvPr/>
        </p:nvPicPr>
        <p:blipFill>
          <a:blip r:embed="rId2"/>
          <a:srcRect l="0" r="0" t="0" b="0"/>
          <a:stretch/>
        </p:blipFill>
        <p:spPr>
          <a:xfrm>
            <a:off x="4595217" y="2007791"/>
            <a:ext cx="279400" cy="279400"/>
          </a:xfrm>
          <a:prstGeom prst="rect">
            <a:avLst/>
          </a:prstGeom>
        </p:spPr>
      </p:pic>
      <p:sp>
        <p:nvSpPr>
          <p:cNvPr id="10" name="Text 6"/>
          <p:cNvSpPr/>
          <p:nvPr/>
        </p:nvSpPr>
        <p:spPr>
          <a:xfrm>
            <a:off x="4595217" y="2350691"/>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งานของฉัน</a:t>
            </a:r>
            <a:endParaRPr lang="en-US" sz="1700" dirty="0"/>
          </a:p>
        </p:txBody>
      </p:sp>
      <p:sp>
        <p:nvSpPr>
          <p:cNvPr id="11" name="Text 7"/>
          <p:cNvSpPr/>
          <p:nvPr/>
        </p:nvSpPr>
        <p:spPr>
          <a:xfrm>
            <a:off x="4595217" y="2673251"/>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รายการงาน ที่ได้รับมอบหมาย</a:t>
            </a:r>
            <a:endParaRPr lang="en-US" sz="1300" dirty="0"/>
          </a:p>
        </p:txBody>
      </p:sp>
      <p:sp>
        <p:nvSpPr>
          <p:cNvPr id="12" name="Shape 8"/>
          <p:cNvSpPr/>
          <p:nvPr/>
        </p:nvSpPr>
        <p:spPr>
          <a:xfrm>
            <a:off x="7961809" y="1801416"/>
            <a:ext cx="3414216" cy="1540371"/>
          </a:xfrm>
          <a:prstGeom prst="roundRect">
            <a:avLst>
              <a:gd name="adj" fmla="val 8039"/>
            </a:avLst>
          </a:prstGeom>
          <a:solidFill>
            <a:srgbClr val="FFFDF8"/>
          </a:solidFill>
          <a:ln w="6350">
            <a:solidFill>
              <a:srgbClr val="E2E0D8"/>
            </a:solidFill>
            <a:prstDash val="solid"/>
          </a:ln>
        </p:spPr>
      </p:sp>
      <p:pic>
        <p:nvPicPr>
          <p:cNvPr id="13" name="Image 2" descr="Wrench">    </p:cNvPr>
          <p:cNvPicPr>
            <a:picLocks noChangeAspect="1"/>
          </p:cNvPicPr>
          <p:nvPr/>
        </p:nvPicPr>
        <p:blipFill>
          <a:blip r:embed="rId3"/>
          <a:srcRect l="0" r="0" t="0" b="0"/>
          <a:stretch/>
        </p:blipFill>
        <p:spPr>
          <a:xfrm>
            <a:off x="8168184" y="2007791"/>
            <a:ext cx="279400" cy="279400"/>
          </a:xfrm>
          <a:prstGeom prst="rect">
            <a:avLst/>
          </a:prstGeom>
        </p:spPr>
      </p:pic>
      <p:sp>
        <p:nvSpPr>
          <p:cNvPr id="14" name="Text 9"/>
          <p:cNvSpPr/>
          <p:nvPr/>
        </p:nvSpPr>
        <p:spPr>
          <a:xfrm>
            <a:off x="8168184" y="2350691"/>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อัปเดต</a:t>
            </a:r>
            <a:endParaRPr lang="en-US" sz="1700" dirty="0"/>
          </a:p>
        </p:txBody>
      </p:sp>
      <p:sp>
        <p:nvSpPr>
          <p:cNvPr id="15" name="Text 10"/>
          <p:cNvSpPr/>
          <p:nvPr/>
        </p:nvSpPr>
        <p:spPr>
          <a:xfrm>
            <a:off x="8168184" y="2673251"/>
            <a:ext cx="32046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เปลี่ยนสถานะ มอบหมาย คอมเมนต์ ดูประวัติ</a:t>
            </a:r>
            <a:endParaRPr lang="en-US" sz="1300" dirty="0"/>
          </a:p>
        </p:txBody>
      </p:sp>
      <p:sp>
        <p:nvSpPr>
          <p:cNvPr id="16" name="Shape 11"/>
          <p:cNvSpPr/>
          <p:nvPr/>
        </p:nvSpPr>
        <p:spPr>
          <a:xfrm>
            <a:off x="815975" y="3500537"/>
            <a:ext cx="3414117" cy="1309291"/>
          </a:xfrm>
          <a:prstGeom prst="roundRect">
            <a:avLst>
              <a:gd name="adj" fmla="val 9457"/>
            </a:avLst>
          </a:prstGeom>
          <a:solidFill>
            <a:srgbClr val="FFFDF8"/>
          </a:solidFill>
          <a:ln w="6350">
            <a:solidFill>
              <a:srgbClr val="E2E0D8"/>
            </a:solidFill>
            <a:prstDash val="solid"/>
          </a:ln>
        </p:spPr>
      </p:sp>
      <p:pic>
        <p:nvPicPr>
          <p:cNvPr id="17" name="Image 3" descr="Chart">    </p:cNvPr>
          <p:cNvPicPr>
            <a:picLocks noChangeAspect="1"/>
          </p:cNvPicPr>
          <p:nvPr/>
        </p:nvPicPr>
        <p:blipFill>
          <a:blip r:embed="rId4"/>
          <a:srcRect l="0" r="0" t="0" b="0"/>
          <a:stretch/>
        </p:blipFill>
        <p:spPr>
          <a:xfrm>
            <a:off x="1022350" y="3706912"/>
            <a:ext cx="279400" cy="279400"/>
          </a:xfrm>
          <a:prstGeom prst="rect">
            <a:avLst/>
          </a:prstGeom>
        </p:spPr>
      </p:pic>
      <p:sp>
        <p:nvSpPr>
          <p:cNvPr id="18" name="Text 12"/>
          <p:cNvSpPr/>
          <p:nvPr/>
        </p:nvSpPr>
        <p:spPr>
          <a:xfrm>
            <a:off x="1022350" y="4049812"/>
            <a:ext cx="30914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สรุปงาน</a:t>
            </a:r>
            <a:endParaRPr lang="en-US" sz="1700" dirty="0"/>
          </a:p>
        </p:txBody>
      </p:sp>
      <p:sp>
        <p:nvSpPr>
          <p:cNvPr id="19" name="Text 13"/>
          <p:cNvSpPr/>
          <p:nvPr/>
        </p:nvSpPr>
        <p:spPr>
          <a:xfrm>
            <a:off x="1022350" y="4372372"/>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สรุปงานของวันนี้ ได้ทันที</a:t>
            </a:r>
            <a:endParaRPr lang="en-US" sz="1300" dirty="0"/>
          </a:p>
        </p:txBody>
      </p:sp>
      <p:sp>
        <p:nvSpPr>
          <p:cNvPr id="20" name="Shape 14"/>
          <p:cNvSpPr/>
          <p:nvPr/>
        </p:nvSpPr>
        <p:spPr>
          <a:xfrm>
            <a:off x="4388842" y="3500537"/>
            <a:ext cx="3414216" cy="1309291"/>
          </a:xfrm>
          <a:prstGeom prst="roundRect">
            <a:avLst>
              <a:gd name="adj" fmla="val 9457"/>
            </a:avLst>
          </a:prstGeom>
          <a:solidFill>
            <a:srgbClr val="FFFDF8"/>
          </a:solidFill>
          <a:ln w="6350">
            <a:solidFill>
              <a:srgbClr val="E2E0D8"/>
            </a:solidFill>
            <a:prstDash val="solid"/>
          </a:ln>
        </p:spPr>
      </p:sp>
      <p:pic>
        <p:nvPicPr>
          <p:cNvPr id="21" name="Image 4" descr="Settings">    </p:cNvPr>
          <p:cNvPicPr>
            <a:picLocks noChangeAspect="1"/>
          </p:cNvPicPr>
          <p:nvPr/>
        </p:nvPicPr>
        <p:blipFill>
          <a:blip r:embed="rId5"/>
          <a:srcRect l="0" r="0" t="0" b="0"/>
          <a:stretch/>
        </p:blipFill>
        <p:spPr>
          <a:xfrm>
            <a:off x="4595217" y="3706912"/>
            <a:ext cx="279400" cy="279400"/>
          </a:xfrm>
          <a:prstGeom prst="rect">
            <a:avLst/>
          </a:prstGeom>
        </p:spPr>
      </p:pic>
      <p:sp>
        <p:nvSpPr>
          <p:cNvPr id="22" name="Text 15"/>
          <p:cNvSpPr/>
          <p:nvPr/>
        </p:nvSpPr>
        <p:spPr>
          <a:xfrm>
            <a:off x="4595217" y="4049812"/>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ตั้งค่าแจ้งเตือน</a:t>
            </a:r>
            <a:endParaRPr lang="en-US" sz="1700" dirty="0"/>
          </a:p>
        </p:txBody>
      </p:sp>
      <p:sp>
        <p:nvSpPr>
          <p:cNvPr id="23" name="Text 16"/>
          <p:cNvSpPr/>
          <p:nvPr/>
        </p:nvSpPr>
        <p:spPr>
          <a:xfrm>
            <a:off x="4595217" y="437237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เปิด/ปิด การแจ้งเตือนแต่ละแบบ</a:t>
            </a:r>
            <a:endParaRPr lang="en-US" sz="1300" dirty="0"/>
          </a:p>
        </p:txBody>
      </p:sp>
      <p:sp>
        <p:nvSpPr>
          <p:cNvPr id="24" name="Shape 17"/>
          <p:cNvSpPr/>
          <p:nvPr/>
        </p:nvSpPr>
        <p:spPr>
          <a:xfrm>
            <a:off x="7961809" y="3500537"/>
            <a:ext cx="3414216" cy="1309291"/>
          </a:xfrm>
          <a:prstGeom prst="roundRect">
            <a:avLst>
              <a:gd name="adj" fmla="val 9457"/>
            </a:avLst>
          </a:prstGeom>
          <a:solidFill>
            <a:srgbClr val="FFFDF8"/>
          </a:solidFill>
          <a:ln w="6350">
            <a:solidFill>
              <a:srgbClr val="E2E0D8"/>
            </a:solidFill>
            <a:prstDash val="solid"/>
          </a:ln>
        </p:spPr>
      </p:sp>
      <p:pic>
        <p:nvPicPr>
          <p:cNvPr id="25" name="Image 5" descr="Home">    </p:cNvPr>
          <p:cNvPicPr>
            <a:picLocks noChangeAspect="1"/>
          </p:cNvPicPr>
          <p:nvPr/>
        </p:nvPicPr>
        <p:blipFill>
          <a:blip r:embed="rId6"/>
          <a:srcRect l="0" r="0" t="0" b="0"/>
          <a:stretch/>
        </p:blipFill>
        <p:spPr>
          <a:xfrm>
            <a:off x="8168184" y="3706912"/>
            <a:ext cx="279400" cy="279400"/>
          </a:xfrm>
          <a:prstGeom prst="rect">
            <a:avLst/>
          </a:prstGeom>
        </p:spPr>
      </p:pic>
      <p:sp>
        <p:nvSpPr>
          <p:cNvPr id="26" name="Text 18"/>
          <p:cNvSpPr/>
          <p:nvPr/>
        </p:nvSpPr>
        <p:spPr>
          <a:xfrm>
            <a:off x="8168184" y="4049812"/>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ยกเลิก</a:t>
            </a:r>
            <a:endParaRPr lang="en-US" sz="1700" dirty="0"/>
          </a:p>
        </p:txBody>
      </p:sp>
      <p:sp>
        <p:nvSpPr>
          <p:cNvPr id="27" name="Text 19"/>
          <p:cNvSpPr/>
          <p:nvPr/>
        </p:nvSpPr>
        <p:spPr>
          <a:xfrm>
            <a:off x="8168184" y="437237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ออกจากขั้นตอน ที่ทำอยู่</a:t>
            </a:r>
            <a:endParaRPr lang="en-US" sz="1300" dirty="0"/>
          </a:p>
        </p:txBody>
      </p:sp>
      <p:sp>
        <p:nvSpPr>
          <p:cNvPr id="28"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ใช้ได้ทั้ง LINE (Quick Reply) และ Discord (ปุ่ม / Select Menu)</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ใช้งานพื้นฐาน</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แจ้งเตือนส่วนตัว</a:t>
            </a:r>
            <a:endParaRPr lang="en-US" sz="3200" dirty="0"/>
          </a:p>
        </p:txBody>
      </p:sp>
      <p:sp>
        <p:nvSpPr>
          <p:cNvPr id="4" name="Shape 2"/>
          <p:cNvSpPr/>
          <p:nvPr/>
        </p:nvSpPr>
        <p:spPr>
          <a:xfrm>
            <a:off x="815975" y="1877616"/>
            <a:ext cx="3384550" cy="2199382"/>
          </a:xfrm>
          <a:prstGeom prst="roundRect">
            <a:avLst>
              <a:gd name="adj" fmla="val 5630"/>
            </a:avLst>
          </a:prstGeom>
          <a:solidFill>
            <a:srgbClr val="FFFDF8"/>
          </a:solidFill>
          <a:ln w="6350">
            <a:solidFill>
              <a:srgbClr val="E2E0D8"/>
            </a:solidFill>
            <a:prstDash val="solid"/>
          </a:ln>
        </p:spPr>
      </p:sp>
      <p:pic>
        <p:nvPicPr>
          <p:cNvPr id="5" name="Image 0" descr="Chat">    </p:cNvPr>
          <p:cNvPicPr>
            <a:picLocks noChangeAspect="1"/>
          </p:cNvPicPr>
          <p:nvPr/>
        </p:nvPicPr>
        <p:blipFill>
          <a:blip r:embed="rId1"/>
          <a:srcRect l="0" r="0" t="0" b="0"/>
          <a:stretch/>
        </p:blipFill>
        <p:spPr>
          <a:xfrm>
            <a:off x="1098550" y="2160191"/>
            <a:ext cx="330200" cy="330200"/>
          </a:xfrm>
          <a:prstGeom prst="rect">
            <a:avLst/>
          </a:prstGeom>
        </p:spPr>
      </p:pic>
      <p:sp>
        <p:nvSpPr>
          <p:cNvPr id="6" name="Text 3"/>
          <p:cNvSpPr/>
          <p:nvPr/>
        </p:nvSpPr>
        <p:spPr>
          <a:xfrm>
            <a:off x="1098550" y="2591991"/>
            <a:ext cx="290398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3A"/>
                </a:solidFill>
                <a:latin typeface="Prompt" pitchFamily="34" charset="0"/>
                <a:ea typeface="Prompt" pitchFamily="34" charset="-122"/>
                <a:cs typeface="Prompt" pitchFamily="34" charset="-120"/>
              </a:rPr>
              <a:t>แจ้งทันทีเมื่อ</a:t>
            </a:r>
            <a:endParaRPr lang="en-US" sz="1800" dirty="0"/>
          </a:p>
        </p:txBody>
      </p:sp>
      <p:sp>
        <p:nvSpPr>
          <p:cNvPr id="7" name="Text 4"/>
          <p:cNvSpPr/>
          <p:nvPr/>
        </p:nvSpPr>
        <p:spPr>
          <a:xfrm>
            <a:off x="1170432" y="2967831"/>
            <a:ext cx="2824480" cy="851991"/>
          </a:xfrm>
          <a:prstGeom prst="rect">
            <a:avLst/>
          </a:prstGeom>
          <a:noFill/>
          <a:ln/>
        </p:spPr>
        <p:txBody>
          <a:bodyPr wrap="square" lIns="0" tIns="0" rIns="0" bIns="0" rtlCol="0" anchor="t">
            <a:normAutofit/>
          </a:bodyPr>
          <a:lstStyle/>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มีคนมอบหมายงานให้</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เปลี่ยนสถานะ / ปิดงาน</a:t>
            </a:r>
            <a:endParaRPr lang="en-US" sz="1400" dirty="0"/>
          </a:p>
          <a:p>
            <a:pPr algn="l" marL="182118" indent="-182118">
              <a:lnSpc>
                <a:spcPts val="2170"/>
              </a:lnSpc>
              <a:buSzPct val="100000"/>
              <a:buChar char="•"/>
            </a:pPr>
            <a:r>
              <a:rPr lang="en-US" sz="1400" dirty="0">
                <a:solidFill>
                  <a:srgbClr val="4A5568"/>
                </a:solidFill>
                <a:latin typeface="Sarabun" pitchFamily="34" charset="0"/>
                <a:ea typeface="Sarabun" pitchFamily="34" charset="-122"/>
                <a:cs typeface="Sarabun" pitchFamily="34" charset="-120"/>
              </a:rPr>
              <a:t>มีคอมเมนต์ใหม่</a:t>
            </a:r>
            <a:endParaRPr lang="en-US" sz="1400" dirty="0"/>
          </a:p>
        </p:txBody>
      </p:sp>
      <p:sp>
        <p:nvSpPr>
          <p:cNvPr id="8" name="Shape 5"/>
          <p:cNvSpPr/>
          <p:nvPr/>
        </p:nvSpPr>
        <p:spPr>
          <a:xfrm>
            <a:off x="4410075" y="1877616"/>
            <a:ext cx="3384550" cy="2199382"/>
          </a:xfrm>
          <a:prstGeom prst="roundRect">
            <a:avLst>
              <a:gd name="adj" fmla="val 5630"/>
            </a:avLst>
          </a:prstGeom>
          <a:solidFill>
            <a:srgbClr val="FFFDF8"/>
          </a:solidFill>
          <a:ln w="6350">
            <a:solidFill>
              <a:srgbClr val="E2E0D8"/>
            </a:solidFill>
            <a:prstDash val="solid"/>
          </a:ln>
        </p:spPr>
      </p:sp>
      <p:pic>
        <p:nvPicPr>
          <p:cNvPr id="9" name="Image 1" descr="Users">    </p:cNvPr>
          <p:cNvPicPr>
            <a:picLocks noChangeAspect="1"/>
          </p:cNvPicPr>
          <p:nvPr/>
        </p:nvPicPr>
        <p:blipFill>
          <a:blip r:embed="rId2"/>
          <a:srcRect l="0" r="0" t="0" b="0"/>
          <a:stretch/>
        </p:blipFill>
        <p:spPr>
          <a:xfrm>
            <a:off x="4692650" y="2160191"/>
            <a:ext cx="330200" cy="330200"/>
          </a:xfrm>
          <a:prstGeom prst="rect">
            <a:avLst/>
          </a:prstGeom>
        </p:spPr>
      </p:pic>
      <p:sp>
        <p:nvSpPr>
          <p:cNvPr id="10" name="Text 6"/>
          <p:cNvSpPr/>
          <p:nvPr/>
        </p:nvSpPr>
        <p:spPr>
          <a:xfrm>
            <a:off x="4692650" y="2591991"/>
            <a:ext cx="290398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3A"/>
                </a:solidFill>
                <a:latin typeface="Prompt" pitchFamily="34" charset="0"/>
                <a:ea typeface="Prompt" pitchFamily="34" charset="-122"/>
                <a:cs typeface="Prompt" pitchFamily="34" charset="-120"/>
              </a:rPr>
              <a:t>ทุกช่องทางที่ผูกไว้</a:t>
            </a:r>
            <a:endParaRPr lang="en-US" sz="1800" dirty="0"/>
          </a:p>
        </p:txBody>
      </p:sp>
      <p:sp>
        <p:nvSpPr>
          <p:cNvPr id="11" name="Text 7"/>
          <p:cNvSpPr/>
          <p:nvPr/>
        </p:nvSpPr>
        <p:spPr>
          <a:xfrm>
            <a:off x="4692650" y="2967831"/>
            <a:ext cx="290398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Sarabun" pitchFamily="34" charset="0"/>
                <a:ea typeface="Sarabun" pitchFamily="34" charset="-122"/>
                <a:cs typeface="Sarabun" pitchFamily="34" charset="-120"/>
              </a:rPr>
              <a:t>ผูกทั้ง LINE และ Discord ได้แจ้งเตือน ทั้งสองที่</a:t>
            </a:r>
            <a:endParaRPr lang="en-US" sz="1400" dirty="0"/>
          </a:p>
        </p:txBody>
      </p:sp>
      <p:sp>
        <p:nvSpPr>
          <p:cNvPr id="12" name="Shape 8"/>
          <p:cNvSpPr/>
          <p:nvPr/>
        </p:nvSpPr>
        <p:spPr>
          <a:xfrm>
            <a:off x="8001000" y="1874441"/>
            <a:ext cx="3378200" cy="2205732"/>
          </a:xfrm>
          <a:prstGeom prst="roundRect">
            <a:avLst>
              <a:gd name="adj" fmla="val 5758"/>
            </a:avLst>
          </a:prstGeom>
          <a:solidFill>
            <a:srgbClr val="16223A"/>
          </a:solidFill>
          <a:ln/>
        </p:spPr>
      </p:sp>
      <p:sp>
        <p:nvSpPr>
          <p:cNvPr id="13" name="Text 9"/>
          <p:cNvSpPr/>
          <p:nvPr/>
        </p:nvSpPr>
        <p:spPr>
          <a:xfrm>
            <a:off x="8280400" y="2153841"/>
            <a:ext cx="290398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8742C"/>
                </a:solidFill>
                <a:latin typeface="Prompt" pitchFamily="34" charset="0"/>
                <a:ea typeface="Prompt" pitchFamily="34" charset="-122"/>
                <a:cs typeface="Prompt" pitchFamily="34" charset="-120"/>
              </a:rPr>
              <a:t>45 วิ</a:t>
            </a:r>
            <a:endParaRPr lang="en-US" sz="4000" dirty="0"/>
          </a:p>
        </p:txBody>
      </p:sp>
      <p:sp>
        <p:nvSpPr>
          <p:cNvPr id="14" name="Text 10"/>
          <p:cNvSpPr/>
          <p:nvPr/>
        </p:nvSpPr>
        <p:spPr>
          <a:xfrm>
            <a:off x="8280400" y="2788841"/>
            <a:ext cx="290398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5DEEA"/>
                </a:solidFill>
                <a:latin typeface="Sarabun" pitchFamily="34" charset="0"/>
                <a:ea typeface="Sarabun" pitchFamily="34" charset="-122"/>
                <a:cs typeface="Sarabun" pitchFamily="34" charset="-120"/>
              </a:rPr>
              <a:t>แก้หลายอย่างในงานเดียว ภายใน 45 วินาที รวมเป็นข้อความเดียว</a:t>
            </a:r>
            <a:endParaRPr lang="en-US" sz="1400" dirty="0"/>
          </a:p>
        </p:txBody>
      </p:sp>
      <p:sp>
        <p:nvSpPr>
          <p:cNvPr id="15" name="Text 11"/>
          <p:cNvSpPr/>
          <p:nvPr/>
        </p:nvSpPr>
        <p:spPr>
          <a:xfrm>
            <a:off x="812800" y="438497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Sarabun" pitchFamily="34" charset="0"/>
                <a:ea typeface="Sarabun" pitchFamily="34" charset="-122"/>
                <a:cs typeface="Sarabun" pitchFamily="34" charset="-120"/>
              </a:rPr>
              <a:t>งานใกล้ครบกำหนด / เลยกำหนด ถูกรวมไว้ใน </a:t>
            </a:r>
            <a:r>
              <a:rPr lang="en-US" sz="1400" b="1" dirty="0">
                <a:solidFill>
                  <a:srgbClr val="4A5568"/>
                </a:solidFill>
                <a:latin typeface="Sarabun" pitchFamily="34" charset="0"/>
                <a:ea typeface="Sarabun" pitchFamily="34" charset="-122"/>
                <a:cs typeface="Sarabun" pitchFamily="34" charset="-120"/>
              </a:rPr>
              <a:t>สรุปงานรายวัน 09:00 น.</a:t>
            </a:r>
            <a:r>
              <a:rPr lang="en-US" sz="1400" dirty="0">
                <a:solidFill>
                  <a:srgbClr val="4A5568"/>
                </a:solidFill>
                <a:latin typeface="Sarabun" pitchFamily="34" charset="0"/>
                <a:ea typeface="Sarabun" pitchFamily="34" charset="-122"/>
                <a:cs typeface="Sarabun" pitchFamily="34" charset="-120"/>
              </a:rPr>
              <a:t> (ปิดสรุปแล้วจะกลับมาแจ้งทีละงาน)</a:t>
            </a:r>
            <a:endParaRPr lang="en-US" sz="1400" dirty="0"/>
          </a:p>
        </p:txBody>
      </p:sp>
      <p:sp>
        <p:nvSpPr>
          <p:cNvPr id="16"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17"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23A"/>
        </a:solidFill>
      </p:bgPr>
    </p:bg>
    <p:spTree>
      <p:nvGrpSpPr>
        <p:cNvPr id="1" name=""/>
        <p:cNvGrpSpPr/>
        <p:nvPr/>
      </p:nvGrpSpPr>
      <p:grpSpPr>
        <a:xfrm>
          <a:off x="0" y="0"/>
          <a:ext cx="0" cy="0"/>
          <a:chOff x="0" y="0"/>
          <a:chExt cx="0" cy="0"/>
        </a:xfrm>
      </p:grpSpPr>
      <p:sp>
        <p:nvSpPr>
          <p:cNvPr id="2" name="Text 0"/>
          <p:cNvSpPr/>
          <p:nvPr/>
        </p:nvSpPr>
        <p:spPr>
          <a:xfrm>
            <a:off x="812800" y="237361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E8742C"/>
                </a:solidFill>
                <a:latin typeface="Prompt" pitchFamily="34" charset="0"/>
                <a:ea typeface="Prompt" pitchFamily="34" charset="-122"/>
                <a:cs typeface="Prompt" pitchFamily="34" charset="-120"/>
              </a:rPr>
              <a:t>02</a:t>
            </a:r>
            <a:endParaRPr lang="en-US" sz="6000" dirty="0"/>
          </a:p>
        </p:txBody>
      </p:sp>
      <p:sp>
        <p:nvSpPr>
          <p:cNvPr id="3" name="Text 1"/>
          <p:cNvSpPr/>
          <p:nvPr>
            <p:ph type="title"/>
          </p:nvPr>
        </p:nvSpPr>
        <p:spPr>
          <a:xfrm>
            <a:off x="812800" y="335151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Prompt" pitchFamily="34" charset="0"/>
                <a:ea typeface="Prompt" pitchFamily="34" charset="-122"/>
                <a:cs typeface="Prompt" pitchFamily="34" charset="-120"/>
              </a:rPr>
              <a:t>ฟีเจอร์ AI</a:t>
            </a:r>
            <a:endParaRPr lang="en-US" sz="4800" dirty="0"/>
          </a:p>
        </p:txBody>
      </p:sp>
      <p:sp>
        <p:nvSpPr>
          <p:cNvPr id="4" name="Text 2"/>
          <p:cNvSpPr/>
          <p:nvPr/>
        </p:nvSpPr>
        <p:spPr>
          <a:xfrm>
            <a:off x="812800" y="41998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8"/>
                </a:solidFill>
                <a:latin typeface="Sarabun" pitchFamily="34" charset="0"/>
                <a:ea typeface="Sarabun" pitchFamily="34" charset="-122"/>
                <a:cs typeface="Sarabun" pitchFamily="34" charset="-120"/>
              </a:rPr>
              <a:t>10 ฟีเจอร์ตาม MVP ตั้งแต่สร้างงานด้วยข้อความ จนถึง Timeline และ Audit log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AI ทำงานอย่างไร</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จากข้อความ สู่คำสั่งที่ตรวจสอบได้</a:t>
            </a:r>
            <a:endParaRPr lang="en-US" sz="3200" dirty="0"/>
          </a:p>
        </p:txBody>
      </p:sp>
      <p:sp>
        <p:nvSpPr>
          <p:cNvPr id="4" name="Shape 2"/>
          <p:cNvSpPr/>
          <p:nvPr/>
        </p:nvSpPr>
        <p:spPr>
          <a:xfrm>
            <a:off x="815975" y="1877616"/>
            <a:ext cx="2219325" cy="1492052"/>
          </a:xfrm>
          <a:prstGeom prst="roundRect">
            <a:avLst>
              <a:gd name="adj" fmla="val 8299"/>
            </a:avLst>
          </a:prstGeom>
          <a:solidFill>
            <a:srgbClr val="FFFDF8"/>
          </a:solidFill>
          <a:ln w="6350">
            <a:solidFill>
              <a:srgbClr val="E2E0D8"/>
            </a:solidFill>
            <a:prstDash val="solid"/>
          </a:ln>
        </p:spPr>
      </p:sp>
      <p:sp>
        <p:nvSpPr>
          <p:cNvPr id="5" name="Text 3"/>
          <p:cNvSpPr/>
          <p:nvPr/>
        </p:nvSpPr>
        <p:spPr>
          <a:xfrm>
            <a:off x="1022350" y="2083991"/>
            <a:ext cx="186077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A12"/>
                </a:solidFill>
                <a:latin typeface="Prompt" pitchFamily="34" charset="0"/>
                <a:ea typeface="Prompt" pitchFamily="34" charset="-122"/>
                <a:cs typeface="Prompt" pitchFamily="34" charset="-120"/>
              </a:rPr>
              <a:t>1</a:t>
            </a:r>
            <a:endParaRPr lang="en-US" sz="1300" dirty="0"/>
          </a:p>
        </p:txBody>
      </p:sp>
      <p:sp>
        <p:nvSpPr>
          <p:cNvPr id="6" name="Text 4"/>
          <p:cNvSpPr/>
          <p:nvPr/>
        </p:nvSpPr>
        <p:spPr>
          <a:xfrm>
            <a:off x="1022350" y="2378571"/>
            <a:ext cx="18607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ข้อความ</a:t>
            </a:r>
            <a:endParaRPr lang="en-US" sz="1700" dirty="0"/>
          </a:p>
        </p:txBody>
      </p:sp>
      <p:sp>
        <p:nvSpPr>
          <p:cNvPr id="7" name="Text 5"/>
          <p:cNvSpPr/>
          <p:nvPr/>
        </p:nvSpPr>
        <p:spPr>
          <a:xfrm>
            <a:off x="1022350" y="2701131"/>
            <a:ext cx="18607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ผู้ใช้พิมพ์ ภาษาไทย หรืออังกฤษ</a:t>
            </a:r>
            <a:endParaRPr lang="en-US" sz="1300" dirty="0"/>
          </a:p>
        </p:txBody>
      </p:sp>
      <p:pic>
        <p:nvPicPr>
          <p:cNvPr id="8" name="Image 0" descr="connector">    </p:cNvPr>
          <p:cNvPicPr>
            <a:picLocks noChangeAspect="1"/>
          </p:cNvPicPr>
          <p:nvPr/>
        </p:nvPicPr>
        <p:blipFill>
          <a:blip r:embed="rId1"/>
          <a:srcRect l="0" r="0" t="0" b="0"/>
          <a:stretch/>
        </p:blipFill>
        <p:spPr>
          <a:xfrm>
            <a:off x="3140075" y="2572841"/>
            <a:ext cx="355600" cy="101600"/>
          </a:xfrm>
          <a:prstGeom prst="rect">
            <a:avLst/>
          </a:prstGeom>
        </p:spPr>
      </p:pic>
      <p:sp>
        <p:nvSpPr>
          <p:cNvPr id="9" name="Shape 6"/>
          <p:cNvSpPr/>
          <p:nvPr/>
        </p:nvSpPr>
        <p:spPr>
          <a:xfrm>
            <a:off x="3600450" y="1877616"/>
            <a:ext cx="2219325" cy="1492052"/>
          </a:xfrm>
          <a:prstGeom prst="roundRect">
            <a:avLst>
              <a:gd name="adj" fmla="val 8299"/>
            </a:avLst>
          </a:prstGeom>
          <a:solidFill>
            <a:srgbClr val="FFFDF8"/>
          </a:solidFill>
          <a:ln w="6350">
            <a:solidFill>
              <a:srgbClr val="E2E0D8"/>
            </a:solidFill>
            <a:prstDash val="solid"/>
          </a:ln>
        </p:spPr>
      </p:sp>
      <p:sp>
        <p:nvSpPr>
          <p:cNvPr id="10" name="Text 7"/>
          <p:cNvSpPr/>
          <p:nvPr/>
        </p:nvSpPr>
        <p:spPr>
          <a:xfrm>
            <a:off x="3806825" y="2083991"/>
            <a:ext cx="186077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A12"/>
                </a:solidFill>
                <a:latin typeface="Prompt" pitchFamily="34" charset="0"/>
                <a:ea typeface="Prompt" pitchFamily="34" charset="-122"/>
                <a:cs typeface="Prompt" pitchFamily="34" charset="-120"/>
              </a:rPr>
              <a:t>2</a:t>
            </a:r>
            <a:endParaRPr lang="en-US" sz="1300" dirty="0"/>
          </a:p>
        </p:txBody>
      </p:sp>
      <p:sp>
        <p:nvSpPr>
          <p:cNvPr id="11" name="Text 8"/>
          <p:cNvSpPr/>
          <p:nvPr/>
        </p:nvSpPr>
        <p:spPr>
          <a:xfrm>
            <a:off x="3806825" y="2378571"/>
            <a:ext cx="18607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AI ตีความ</a:t>
            </a:r>
            <a:endParaRPr lang="en-US" sz="1700" dirty="0"/>
          </a:p>
        </p:txBody>
      </p:sp>
      <p:sp>
        <p:nvSpPr>
          <p:cNvPr id="12" name="Text 9"/>
          <p:cNvSpPr/>
          <p:nvPr/>
        </p:nvSpPr>
        <p:spPr>
          <a:xfrm>
            <a:off x="3806825" y="2701131"/>
            <a:ext cx="18607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แปลงเป็นคำสั่ง ตามรูปแบบ JSON ที่กำหนด</a:t>
            </a:r>
            <a:endParaRPr lang="en-US" sz="1300" dirty="0"/>
          </a:p>
        </p:txBody>
      </p:sp>
      <p:pic>
        <p:nvPicPr>
          <p:cNvPr id="13" name="Image 1" descr="connector">    </p:cNvPr>
          <p:cNvPicPr>
            <a:picLocks noChangeAspect="1"/>
          </p:cNvPicPr>
          <p:nvPr/>
        </p:nvPicPr>
        <p:blipFill>
          <a:blip r:embed="rId2"/>
          <a:srcRect l="0" r="0" t="0" b="0"/>
          <a:stretch/>
        </p:blipFill>
        <p:spPr>
          <a:xfrm>
            <a:off x="5924550" y="2572841"/>
            <a:ext cx="355600" cy="101600"/>
          </a:xfrm>
          <a:prstGeom prst="rect">
            <a:avLst/>
          </a:prstGeom>
        </p:spPr>
      </p:pic>
      <p:sp>
        <p:nvSpPr>
          <p:cNvPr id="14" name="Shape 10"/>
          <p:cNvSpPr/>
          <p:nvPr/>
        </p:nvSpPr>
        <p:spPr>
          <a:xfrm>
            <a:off x="6384925" y="1877616"/>
            <a:ext cx="2219325" cy="1492052"/>
          </a:xfrm>
          <a:prstGeom prst="roundRect">
            <a:avLst>
              <a:gd name="adj" fmla="val 8299"/>
            </a:avLst>
          </a:prstGeom>
          <a:solidFill>
            <a:srgbClr val="FFFDF8"/>
          </a:solidFill>
          <a:ln w="6350">
            <a:solidFill>
              <a:srgbClr val="E2E0D8"/>
            </a:solidFill>
            <a:prstDash val="solid"/>
          </a:ln>
        </p:spPr>
      </p:sp>
      <p:sp>
        <p:nvSpPr>
          <p:cNvPr id="15" name="Text 11"/>
          <p:cNvSpPr/>
          <p:nvPr/>
        </p:nvSpPr>
        <p:spPr>
          <a:xfrm>
            <a:off x="6591300" y="2083991"/>
            <a:ext cx="186077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A12"/>
                </a:solidFill>
                <a:latin typeface="Prompt" pitchFamily="34" charset="0"/>
                <a:ea typeface="Prompt" pitchFamily="34" charset="-122"/>
                <a:cs typeface="Prompt" pitchFamily="34" charset="-120"/>
              </a:rPr>
              <a:t>3</a:t>
            </a:r>
            <a:endParaRPr lang="en-US" sz="1300" dirty="0"/>
          </a:p>
        </p:txBody>
      </p:sp>
      <p:sp>
        <p:nvSpPr>
          <p:cNvPr id="16" name="Text 12"/>
          <p:cNvSpPr/>
          <p:nvPr/>
        </p:nvSpPr>
        <p:spPr>
          <a:xfrm>
            <a:off x="6591300" y="2378571"/>
            <a:ext cx="18607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23A"/>
                </a:solidFill>
                <a:latin typeface="Prompt" pitchFamily="34" charset="0"/>
                <a:ea typeface="Prompt" pitchFamily="34" charset="-122"/>
                <a:cs typeface="Prompt" pitchFamily="34" charset="-120"/>
              </a:rPr>
              <a:t>โค้ดหาค่าจริง</a:t>
            </a:r>
            <a:endParaRPr lang="en-US" sz="1700" dirty="0"/>
          </a:p>
        </p:txBody>
      </p:sp>
      <p:sp>
        <p:nvSpPr>
          <p:cNvPr id="17" name="Text 13"/>
          <p:cNvSpPr/>
          <p:nvPr/>
        </p:nvSpPr>
        <p:spPr>
          <a:xfrm>
            <a:off x="6591300" y="2701131"/>
            <a:ext cx="18607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ชื่อคน → ผู้ใช้จริง “วันศุกร์” → วันที่</a:t>
            </a:r>
            <a:endParaRPr lang="en-US" sz="1300" dirty="0"/>
          </a:p>
        </p:txBody>
      </p:sp>
      <p:pic>
        <p:nvPicPr>
          <p:cNvPr id="18" name="Image 2" descr="connector">    </p:cNvPr>
          <p:cNvPicPr>
            <a:picLocks noChangeAspect="1"/>
          </p:cNvPicPr>
          <p:nvPr/>
        </p:nvPicPr>
        <p:blipFill>
          <a:blip r:embed="rId3"/>
          <a:srcRect l="0" r="0" t="0" b="0"/>
          <a:stretch/>
        </p:blipFill>
        <p:spPr>
          <a:xfrm>
            <a:off x="8709025" y="2572841"/>
            <a:ext cx="355600" cy="101600"/>
          </a:xfrm>
          <a:prstGeom prst="rect">
            <a:avLst/>
          </a:prstGeom>
        </p:spPr>
      </p:pic>
      <p:sp>
        <p:nvSpPr>
          <p:cNvPr id="19" name="Shape 14"/>
          <p:cNvSpPr/>
          <p:nvPr/>
        </p:nvSpPr>
        <p:spPr>
          <a:xfrm>
            <a:off x="9166225" y="1880791"/>
            <a:ext cx="2212975" cy="1485702"/>
          </a:xfrm>
          <a:prstGeom prst="roundRect">
            <a:avLst>
              <a:gd name="adj" fmla="val 8548"/>
            </a:avLst>
          </a:prstGeom>
          <a:solidFill>
            <a:srgbClr val="16223A"/>
          </a:solidFill>
          <a:ln/>
        </p:spPr>
      </p:sp>
      <p:sp>
        <p:nvSpPr>
          <p:cNvPr id="20" name="Text 15"/>
          <p:cNvSpPr/>
          <p:nvPr/>
        </p:nvSpPr>
        <p:spPr>
          <a:xfrm>
            <a:off x="9369425" y="2083991"/>
            <a:ext cx="186077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742C"/>
                </a:solidFill>
                <a:latin typeface="Prompt" pitchFamily="34" charset="0"/>
                <a:ea typeface="Prompt" pitchFamily="34" charset="-122"/>
                <a:cs typeface="Prompt" pitchFamily="34" charset="-120"/>
              </a:rPr>
              <a:t>4</a:t>
            </a:r>
            <a:endParaRPr lang="en-US" sz="1300" dirty="0"/>
          </a:p>
        </p:txBody>
      </p:sp>
      <p:sp>
        <p:nvSpPr>
          <p:cNvPr id="21" name="Text 16"/>
          <p:cNvSpPr/>
          <p:nvPr/>
        </p:nvSpPr>
        <p:spPr>
          <a:xfrm>
            <a:off x="9369425" y="2378571"/>
            <a:ext cx="18607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0"/>
                </a:solidFill>
                <a:latin typeface="Prompt" pitchFamily="34" charset="0"/>
                <a:ea typeface="Prompt" pitchFamily="34" charset="-122"/>
                <a:cs typeface="Prompt" pitchFamily="34" charset="-120"/>
              </a:rPr>
              <a:t>ตอบ / ยืนยัน</a:t>
            </a:r>
            <a:endParaRPr lang="en-US" sz="1700" dirty="0"/>
          </a:p>
        </p:txBody>
      </p:sp>
      <p:sp>
        <p:nvSpPr>
          <p:cNvPr id="22" name="Text 17"/>
          <p:cNvSpPr/>
          <p:nvPr/>
        </p:nvSpPr>
        <p:spPr>
          <a:xfrm>
            <a:off x="9369425" y="2701131"/>
            <a:ext cx="18607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อ่าน: ตอบทันที แก้ไข: ต้องกดยืนยัน</a:t>
            </a:r>
            <a:endParaRPr lang="en-US" sz="1300" dirty="0"/>
          </a:p>
        </p:txBody>
      </p:sp>
      <p:sp>
        <p:nvSpPr>
          <p:cNvPr id="23" name="Shape 18"/>
          <p:cNvSpPr/>
          <p:nvPr/>
        </p:nvSpPr>
        <p:spPr>
          <a:xfrm>
            <a:off x="812800" y="3677642"/>
            <a:ext cx="10566400" cy="980281"/>
          </a:xfrm>
          <a:prstGeom prst="roundRect">
            <a:avLst>
              <a:gd name="adj" fmla="val 12955"/>
            </a:avLst>
          </a:prstGeom>
          <a:solidFill>
            <a:srgbClr val="E3E8F0"/>
          </a:solidFill>
          <a:ln/>
        </p:spPr>
      </p:sp>
      <p:sp>
        <p:nvSpPr>
          <p:cNvPr id="24" name="Text 19"/>
          <p:cNvSpPr/>
          <p:nvPr/>
        </p:nvSpPr>
        <p:spPr>
          <a:xfrm>
            <a:off x="1066800" y="3880842"/>
            <a:ext cx="103601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23A"/>
                </a:solidFill>
                <a:latin typeface="Sarabun" pitchFamily="34" charset="0"/>
                <a:ea typeface="Sarabun" pitchFamily="34" charset="-122"/>
                <a:cs typeface="Sarabun" pitchFamily="34" charset="-120"/>
              </a:rPr>
              <a:t>ตัวอย่าง:</a:t>
            </a:r>
            <a:r>
              <a:rPr lang="en-US" sz="1400" dirty="0">
                <a:solidFill>
                  <a:srgbClr val="16223A"/>
                </a:solidFill>
                <a:latin typeface="Sarabun" pitchFamily="34" charset="0"/>
                <a:ea typeface="Sarabun" pitchFamily="34" charset="-122"/>
                <a:cs typeface="Sarabun" pitchFamily="34" charset="-120"/>
              </a:rPr>
              <a:t> “สร้างงานแก้ API ให้นก ส่งวันศุกร์”</a:t>
            </a:r>
            <a:endParaRPr lang="en-US" sz="1400" dirty="0"/>
          </a:p>
        </p:txBody>
      </p:sp>
      <p:sp>
        <p:nvSpPr>
          <p:cNvPr id="25" name="Text 20"/>
          <p:cNvSpPr/>
          <p:nvPr/>
        </p:nvSpPr>
        <p:spPr>
          <a:xfrm>
            <a:off x="1066800" y="4205883"/>
            <a:ext cx="103601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Sarabun" pitchFamily="34" charset="0"/>
                <a:ea typeface="Sarabun" pitchFamily="34" charset="-122"/>
                <a:cs typeface="Sarabun" pitchFamily="34" charset="-120"/>
              </a:rPr>
              <a:t>→ ชื่อ: แก้ API · ผู้รับผิดชอบ: นก · วันส่ง: วันศุกร์นี้ → ปุ่ม [ยืนยัน] [ยกเลิก]</a:t>
            </a:r>
            <a:endParaRPr lang="en-US" sz="1400" dirty="0"/>
          </a:p>
        </p:txBody>
      </p:sp>
      <p:sp>
        <p:nvSpPr>
          <p:cNvPr id="26"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27"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742C"/>
        </a:solidFill>
      </p:bgPr>
    </p:bg>
    <p:spTree>
      <p:nvGrpSpPr>
        <p:cNvPr id="1" name=""/>
        <p:cNvGrpSpPr/>
        <p:nvPr/>
      </p:nvGrpSpPr>
      <p:grpSpPr>
        <a:xfrm>
          <a:off x="0" y="0"/>
          <a:ext cx="0" cy="0"/>
          <a:chOff x="0" y="0"/>
          <a:chExt cx="0" cy="0"/>
        </a:xfrm>
      </p:grpSpPr>
      <p:sp>
        <p:nvSpPr>
          <p:cNvPr id="2" name="Text 0"/>
          <p:cNvSpPr/>
          <p:nvPr>
            <p:ph type="title"/>
          </p:nvPr>
        </p:nvSpPr>
        <p:spPr>
          <a:xfrm>
            <a:off x="812800" y="2204839"/>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6223A"/>
                </a:solidFill>
                <a:latin typeface="Prompt" pitchFamily="34" charset="0"/>
                <a:ea typeface="Prompt" pitchFamily="34" charset="-122"/>
                <a:cs typeface="Prompt" pitchFamily="34" charset="-120"/>
              </a:rPr>
              <a:t>AI แค่ตีความข้อความ</a:t>
            </a:r>
            <a:endParaRPr lang="en-US" sz="4800" dirty="0"/>
          </a:p>
        </p:txBody>
      </p:sp>
      <p:sp>
        <p:nvSpPr>
          <p:cNvPr id="3" name="Text 1"/>
          <p:cNvSpPr/>
          <p:nvPr/>
        </p:nvSpPr>
        <p:spPr>
          <a:xfrm>
            <a:off x="812800" y="300235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6223A"/>
                </a:solidFill>
                <a:latin typeface="Prompt" pitchFamily="34" charset="0"/>
                <a:ea typeface="Prompt" pitchFamily="34" charset="-122"/>
                <a:cs typeface="Prompt" pitchFamily="34" charset="-120"/>
              </a:rPr>
              <a:t>ทุกการแก้ไข ต้องกดยืนยันก่อน และใช้สิทธิ์ของผู้ใช้คนนั้นเท่านั้น</a:t>
            </a:r>
            <a:endParaRPr lang="en-US" sz="2200" dirty="0"/>
          </a:p>
        </p:txBody>
      </p:sp>
      <p:sp>
        <p:nvSpPr>
          <p:cNvPr id="4" name="Shape 2"/>
          <p:cNvSpPr/>
          <p:nvPr/>
        </p:nvSpPr>
        <p:spPr>
          <a:xfrm>
            <a:off x="812800" y="3721100"/>
            <a:ext cx="2527300" cy="932061"/>
          </a:xfrm>
          <a:prstGeom prst="roundRect">
            <a:avLst>
              <a:gd name="adj" fmla="val 13626"/>
            </a:avLst>
          </a:prstGeom>
          <a:solidFill>
            <a:srgbClr val="F6F5F0"/>
          </a:solidFill>
          <a:ln/>
        </p:spPr>
      </p:sp>
      <p:sp>
        <p:nvSpPr>
          <p:cNvPr id="5" name="Text 3"/>
          <p:cNvSpPr/>
          <p:nvPr/>
        </p:nvSpPr>
        <p:spPr>
          <a:xfrm>
            <a:off x="1016000" y="3924300"/>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AI ล่ม / ปิดอยู่</a:t>
            </a:r>
            <a:endParaRPr lang="en-US" sz="1600" dirty="0"/>
          </a:p>
        </p:txBody>
      </p:sp>
      <p:sp>
        <p:nvSpPr>
          <p:cNvPr id="6" name="Text 4"/>
          <p:cNvSpPr/>
          <p:nvPr/>
        </p:nvSpPr>
        <p:spPr>
          <a:xfrm>
            <a:off x="1016000" y="4218880"/>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แสดงเมนูปกติแทน</a:t>
            </a:r>
            <a:endParaRPr lang="en-US" sz="1300" dirty="0"/>
          </a:p>
        </p:txBody>
      </p:sp>
      <p:sp>
        <p:nvSpPr>
          <p:cNvPr id="7" name="Shape 5"/>
          <p:cNvSpPr/>
          <p:nvPr/>
        </p:nvSpPr>
        <p:spPr>
          <a:xfrm>
            <a:off x="3492500" y="3721100"/>
            <a:ext cx="2527300" cy="932061"/>
          </a:xfrm>
          <a:prstGeom prst="roundRect">
            <a:avLst>
              <a:gd name="adj" fmla="val 13626"/>
            </a:avLst>
          </a:prstGeom>
          <a:solidFill>
            <a:srgbClr val="F6F5F0"/>
          </a:solidFill>
          <a:ln/>
        </p:spPr>
      </p:sp>
      <p:sp>
        <p:nvSpPr>
          <p:cNvPr id="8" name="Text 6"/>
          <p:cNvSpPr/>
          <p:nvPr/>
        </p:nvSpPr>
        <p:spPr>
          <a:xfrm>
            <a:off x="3695700" y="3924300"/>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คำสั่งเมนู</a:t>
            </a:r>
            <a:endParaRPr lang="en-US" sz="1600" dirty="0"/>
          </a:p>
        </p:txBody>
      </p:sp>
      <p:sp>
        <p:nvSpPr>
          <p:cNvPr id="9" name="Text 7"/>
          <p:cNvSpPr/>
          <p:nvPr/>
        </p:nvSpPr>
        <p:spPr>
          <a:xfrm>
            <a:off x="3695700" y="4218880"/>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ใช้ก่อน AI เสมอ</a:t>
            </a:r>
            <a:endParaRPr lang="en-US" sz="1300" dirty="0"/>
          </a:p>
        </p:txBody>
      </p:sp>
      <p:sp>
        <p:nvSpPr>
          <p:cNvPr id="10" name="Shape 8"/>
          <p:cNvSpPr/>
          <p:nvPr/>
        </p:nvSpPr>
        <p:spPr>
          <a:xfrm>
            <a:off x="6172200" y="3721100"/>
            <a:ext cx="2527300" cy="932061"/>
          </a:xfrm>
          <a:prstGeom prst="roundRect">
            <a:avLst>
              <a:gd name="adj" fmla="val 13626"/>
            </a:avLst>
          </a:prstGeom>
          <a:solidFill>
            <a:srgbClr val="F6F5F0"/>
          </a:solidFill>
          <a:ln/>
        </p:spPr>
      </p:sp>
      <p:sp>
        <p:nvSpPr>
          <p:cNvPr id="11" name="Text 9"/>
          <p:cNvSpPr/>
          <p:nvPr/>
        </p:nvSpPr>
        <p:spPr>
          <a:xfrm>
            <a:off x="6375400" y="3924300"/>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30 / 10 นาที</a:t>
            </a:r>
            <a:endParaRPr lang="en-US" sz="1600" dirty="0"/>
          </a:p>
        </p:txBody>
      </p:sp>
      <p:sp>
        <p:nvSpPr>
          <p:cNvPr id="12" name="Text 10"/>
          <p:cNvSpPr/>
          <p:nvPr/>
        </p:nvSpPr>
        <p:spPr>
          <a:xfrm>
            <a:off x="6375400" y="4218880"/>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จำกัดข้อความ ต่อคน</a:t>
            </a:r>
            <a:endParaRPr lang="en-US" sz="1300" dirty="0"/>
          </a:p>
        </p:txBody>
      </p:sp>
      <p:sp>
        <p:nvSpPr>
          <p:cNvPr id="13" name="Shape 11"/>
          <p:cNvSpPr/>
          <p:nvPr/>
        </p:nvSpPr>
        <p:spPr>
          <a:xfrm>
            <a:off x="8851900" y="3721100"/>
            <a:ext cx="2527300" cy="932061"/>
          </a:xfrm>
          <a:prstGeom prst="roundRect">
            <a:avLst>
              <a:gd name="adj" fmla="val 13626"/>
            </a:avLst>
          </a:prstGeom>
          <a:solidFill>
            <a:srgbClr val="F6F5F0"/>
          </a:solidFill>
          <a:ln/>
        </p:spPr>
      </p:sp>
      <p:sp>
        <p:nvSpPr>
          <p:cNvPr id="14" name="Text 12"/>
          <p:cNvSpPr/>
          <p:nvPr/>
        </p:nvSpPr>
        <p:spPr>
          <a:xfrm>
            <a:off x="9055100" y="3924300"/>
            <a:ext cx="21845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Audit log</a:t>
            </a:r>
            <a:endParaRPr lang="en-US" sz="1600" dirty="0"/>
          </a:p>
        </p:txBody>
      </p:sp>
      <p:sp>
        <p:nvSpPr>
          <p:cNvPr id="15" name="Text 13"/>
          <p:cNvSpPr/>
          <p:nvPr/>
        </p:nvSpPr>
        <p:spPr>
          <a:xfrm>
            <a:off x="9055100" y="4218880"/>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ไม่เก็บข้อความ ที่ผู้ใช้พิมพ์</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10 ฟีเจอร์ · 1–5</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สั่งงาน ดูงาน และสรุปงาน</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2315766"/>
        </p:xfrm>
        <a:graphic>
          <a:graphicData uri="http://schemas.openxmlformats.org/drawingml/2006/table">
            <a:tbl>
              <a:tblPr/>
              <a:tblGrid>
                <a:gridCol w="738759"/>
                <a:gridCol w="2955036"/>
                <a:gridCol w="6859905"/>
              </a:tblGrid>
              <a:tr h="385961">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ฟีเจอร์</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ตัวอย่าง</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1</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สร้างงานด้วยข้อความ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“สร้างงานแก้หน้า login ให้นก ส่งพรุ่งนี้ ด่วน” → หน้ายืนยันก่อนสร้าง</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2</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LINE ⇄ Plane sync</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สร้าง/แก้จากแชท เห็นในเว็บทันที · แก้ในเว็บ ได้แจ้งเตือนในแชท</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3</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ผู้ช่วยตอบคำสั่ง</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“งานของฉันวันนี้” · “งาน overdue” · “assign task นี้ให้ Nok” · “เลื่อน deadline อีก 2 วัน”</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4</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สรุปงานรายวัน</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ทุกวัน 09:00 น. — เลยกำหนด · ครบวันนี้ · ครบพรุ่งนี้ · งานใหม่ · ถูกบล็อก</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5</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ตั้งค่าแจ้งเตือนได้</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เปิด/ปิดแต่ละประเภท ทั้งในแชท (“ตั้งค่าแจ้งเตือน”) และหน้าเว็บ</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10 ฟีเจอร์ · 6–10</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อัปเดต ค้นหา และติดตามทีม</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2315766"/>
        </p:xfrm>
        <a:graphic>
          <a:graphicData uri="http://schemas.openxmlformats.org/drawingml/2006/table">
            <a:tbl>
              <a:tblPr/>
              <a:tblGrid>
                <a:gridCol w="738759"/>
                <a:gridCol w="2955036"/>
                <a:gridCol w="6859905"/>
              </a:tblGrid>
              <a:tr h="385961">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ฟีเจอร์</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ตัวอย่าง</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6</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อัปเดตสถานะจากข้อความ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“task API Gateway เสร็จแล้ว” · “เริ่มทำงาน X” (Todo → In Progress → Done)</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7</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ค้นหางาน</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“หางานเรื่อง API” · “งานของนก” · “งานใน project AI”</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8</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Auto-tagging</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แนะนำ Label / Priority ตอนสร้างงาน ใช้กฎก่อน แล้วค่อยใช้ AI</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9</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แจ้งเตือนในกลุ่ม</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กลุ่ม LINE / ช่อง Discord ได้แจ้งงานใหม่ · มอบหมาย · เสร็จ</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10</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Timeline และ Audit log</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ใคร แก้อะไร จาก LINE / Discord / Plane เมื่อไหร่ ค้นหาได้</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ฟีเจอร์ 1 และ 8</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วันที่ที่ AI เข้าใจ และ Auto-tagging</a:t>
            </a:r>
            <a:endParaRPr lang="en-US" sz="3200" dirty="0"/>
          </a:p>
        </p:txBody>
      </p:sp>
      <p:sp>
        <p:nvSpPr>
          <p:cNvPr id="4" name="Shape 2"/>
          <p:cNvSpPr/>
          <p:nvPr/>
        </p:nvSpPr>
        <p:spPr>
          <a:xfrm>
            <a:off x="815975" y="1852216"/>
            <a:ext cx="5175250" cy="2533948"/>
          </a:xfrm>
          <a:prstGeom prst="roundRect">
            <a:avLst>
              <a:gd name="adj" fmla="val 4887"/>
            </a:avLst>
          </a:prstGeom>
          <a:solidFill>
            <a:srgbClr val="FFFDF8"/>
          </a:solidFill>
          <a:ln w="6350">
            <a:solidFill>
              <a:srgbClr val="E2E0D8"/>
            </a:solidFill>
            <a:prstDash val="solid"/>
          </a:ln>
        </p:spPr>
      </p:sp>
      <p:sp>
        <p:nvSpPr>
          <p:cNvPr id="5" name="Text 3"/>
          <p:cNvSpPr/>
          <p:nvPr/>
        </p:nvSpPr>
        <p:spPr>
          <a:xfrm>
            <a:off x="1098550" y="213479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3A"/>
                </a:solidFill>
                <a:latin typeface="Prompt" pitchFamily="34" charset="0"/>
                <a:ea typeface="Prompt" pitchFamily="34" charset="-122"/>
                <a:cs typeface="Prompt" pitchFamily="34" charset="-120"/>
              </a:rPr>
              <a:t>วันที่ภาษาไทย / อังกฤษ</a:t>
            </a:r>
            <a:endParaRPr lang="en-US" sz="1800" dirty="0"/>
          </a:p>
        </p:txBody>
      </p:sp>
      <p:sp>
        <p:nvSpPr>
          <p:cNvPr id="6" name="Text 4"/>
          <p:cNvSpPr/>
          <p:nvPr/>
        </p:nvSpPr>
        <p:spPr>
          <a:xfrm>
            <a:off x="1098550" y="2561431"/>
            <a:ext cx="548878"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วันนี้</a:t>
            </a:r>
            <a:endParaRPr lang="en-US" sz="1300" dirty="0"/>
          </a:p>
        </p:txBody>
      </p:sp>
      <p:sp>
        <p:nvSpPr>
          <p:cNvPr id="7" name="Text 5"/>
          <p:cNvSpPr/>
          <p:nvPr/>
        </p:nvSpPr>
        <p:spPr>
          <a:xfrm>
            <a:off x="1723628" y="2561431"/>
            <a:ext cx="632916"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พรุ่งนี้</a:t>
            </a:r>
            <a:endParaRPr lang="en-US" sz="1300" dirty="0"/>
          </a:p>
        </p:txBody>
      </p:sp>
      <p:sp>
        <p:nvSpPr>
          <p:cNvPr id="8" name="Text 6"/>
          <p:cNvSpPr/>
          <p:nvPr/>
        </p:nvSpPr>
        <p:spPr>
          <a:xfrm>
            <a:off x="2432745" y="2561431"/>
            <a:ext cx="628650"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มะรืน</a:t>
            </a:r>
            <a:endParaRPr lang="en-US" sz="1300" dirty="0"/>
          </a:p>
        </p:txBody>
      </p:sp>
      <p:sp>
        <p:nvSpPr>
          <p:cNvPr id="9" name="Text 7"/>
          <p:cNvSpPr/>
          <p:nvPr/>
        </p:nvSpPr>
        <p:spPr>
          <a:xfrm>
            <a:off x="3137595" y="2561431"/>
            <a:ext cx="718145"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วันศุกร์</a:t>
            </a:r>
            <a:endParaRPr lang="en-US" sz="1300" dirty="0"/>
          </a:p>
        </p:txBody>
      </p:sp>
      <p:sp>
        <p:nvSpPr>
          <p:cNvPr id="10" name="Text 8"/>
          <p:cNvSpPr/>
          <p:nvPr/>
        </p:nvSpPr>
        <p:spPr>
          <a:xfrm>
            <a:off x="3931940" y="2561431"/>
            <a:ext cx="818654"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ศุกร์หน้า</a:t>
            </a:r>
            <a:endParaRPr lang="en-US" sz="1300" dirty="0"/>
          </a:p>
        </p:txBody>
      </p:sp>
      <p:sp>
        <p:nvSpPr>
          <p:cNvPr id="11" name="Text 9"/>
          <p:cNvSpPr/>
          <p:nvPr/>
        </p:nvSpPr>
        <p:spPr>
          <a:xfrm>
            <a:off x="4826794" y="2561431"/>
            <a:ext cx="806847"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อีก 3 วัน</a:t>
            </a:r>
            <a:endParaRPr lang="en-US" sz="1300" dirty="0"/>
          </a:p>
        </p:txBody>
      </p:sp>
      <p:sp>
        <p:nvSpPr>
          <p:cNvPr id="12" name="Text 10"/>
          <p:cNvSpPr/>
          <p:nvPr/>
        </p:nvSpPr>
        <p:spPr>
          <a:xfrm>
            <a:off x="1098550" y="2970312"/>
            <a:ext cx="805954"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สิ้นเดือน</a:t>
            </a:r>
            <a:endParaRPr lang="en-US" sz="1300" dirty="0"/>
          </a:p>
        </p:txBody>
      </p:sp>
      <p:sp>
        <p:nvSpPr>
          <p:cNvPr id="13" name="Text 11"/>
          <p:cNvSpPr/>
          <p:nvPr/>
        </p:nvSpPr>
        <p:spPr>
          <a:xfrm>
            <a:off x="1980704" y="2970312"/>
            <a:ext cx="1117501"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25/12/2569</a:t>
            </a:r>
            <a:endParaRPr lang="en-US" sz="1300" dirty="0"/>
          </a:p>
        </p:txBody>
      </p:sp>
      <p:sp>
        <p:nvSpPr>
          <p:cNvPr id="14" name="Text 12"/>
          <p:cNvSpPr/>
          <p:nvPr/>
        </p:nvSpPr>
        <p:spPr>
          <a:xfrm>
            <a:off x="3174405" y="2970312"/>
            <a:ext cx="949920"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tomorrow</a:t>
            </a:r>
            <a:endParaRPr lang="en-US" sz="1300" dirty="0"/>
          </a:p>
        </p:txBody>
      </p:sp>
      <p:sp>
        <p:nvSpPr>
          <p:cNvPr id="15" name="Text 13"/>
          <p:cNvSpPr/>
          <p:nvPr/>
        </p:nvSpPr>
        <p:spPr>
          <a:xfrm>
            <a:off x="4200525" y="2970312"/>
            <a:ext cx="1048147"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next Friday</a:t>
            </a:r>
            <a:endParaRPr lang="en-US" sz="1300" dirty="0"/>
          </a:p>
        </p:txBody>
      </p:sp>
      <p:sp>
        <p:nvSpPr>
          <p:cNvPr id="16" name="Text 14"/>
          <p:cNvSpPr/>
          <p:nvPr/>
        </p:nvSpPr>
        <p:spPr>
          <a:xfrm>
            <a:off x="1098550" y="3379192"/>
            <a:ext cx="875506" cy="332680"/>
          </a:xfrm>
          <a:prstGeom prst="roundRect">
            <a:avLst>
              <a:gd name="adj" fmla="val 50000"/>
            </a:avLst>
          </a:prstGeom>
          <a:solidFill>
            <a:srgbClr val="E3E8F0"/>
          </a:solidFill>
          <a:ln/>
        </p:spPr>
        <p:txBody>
          <a:bodyPr wrap="none" lIns="0" tIns="0" rIns="0" bIns="0" rtlCol="0" anchor="ctr">
            <a:normAutofit/>
          </a:bodyPr>
          <a:lstStyle/>
          <a:p>
            <a:pPr algn="ctr" indent="0" marL="0">
              <a:lnSpc>
                <a:spcPts val="1820"/>
              </a:lnSpc>
              <a:buNone/>
            </a:pPr>
            <a:r>
              <a:rPr lang="en-US" sz="1300" dirty="0">
                <a:solidFill>
                  <a:srgbClr val="16223A"/>
                </a:solidFill>
                <a:latin typeface="Sarabun" pitchFamily="34" charset="0"/>
                <a:ea typeface="Sarabun" pitchFamily="34" charset="-122"/>
                <a:cs typeface="Sarabun" pitchFamily="34" charset="-120"/>
              </a:rPr>
              <a:t>in 2 days</a:t>
            </a:r>
            <a:endParaRPr lang="en-US" sz="1300" dirty="0"/>
          </a:p>
        </p:txBody>
      </p:sp>
      <p:sp>
        <p:nvSpPr>
          <p:cNvPr id="17" name="Text 15"/>
          <p:cNvSpPr/>
          <p:nvPr/>
        </p:nvSpPr>
        <p:spPr>
          <a:xfrm>
            <a:off x="1098550" y="3864273"/>
            <a:ext cx="4748403"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Sarabun" pitchFamily="34" charset="0"/>
                <a:ea typeface="Sarabun" pitchFamily="34" charset="-122"/>
                <a:cs typeface="Sarabun" pitchFamily="34" charset="-120"/>
              </a:rPr>
              <a:t>ระบบคำนวณวันที่เองตามกฎ ไม่ได้เชื่อวันที่จาก AI ตรงๆ</a:t>
            </a:r>
            <a:endParaRPr lang="en-US" sz="1300" dirty="0"/>
          </a:p>
        </p:txBody>
      </p:sp>
      <p:sp>
        <p:nvSpPr>
          <p:cNvPr id="18" name="Shape 16"/>
          <p:cNvSpPr/>
          <p:nvPr/>
        </p:nvSpPr>
        <p:spPr>
          <a:xfrm>
            <a:off x="6200775" y="1852216"/>
            <a:ext cx="5175250" cy="2533948"/>
          </a:xfrm>
          <a:prstGeom prst="roundRect">
            <a:avLst>
              <a:gd name="adj" fmla="val 4887"/>
            </a:avLst>
          </a:prstGeom>
          <a:solidFill>
            <a:srgbClr val="FFFDF8"/>
          </a:solidFill>
          <a:ln w="6350">
            <a:solidFill>
              <a:srgbClr val="E2E0D8"/>
            </a:solidFill>
            <a:prstDash val="solid"/>
          </a:ln>
        </p:spPr>
      </p:sp>
      <p:sp>
        <p:nvSpPr>
          <p:cNvPr id="19" name="Text 17"/>
          <p:cNvSpPr/>
          <p:nvPr/>
        </p:nvSpPr>
        <p:spPr>
          <a:xfrm>
            <a:off x="6483350" y="213479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23A"/>
                </a:solidFill>
                <a:latin typeface="Prompt" pitchFamily="34" charset="0"/>
                <a:ea typeface="Prompt" pitchFamily="34" charset="-122"/>
                <a:cs typeface="Prompt" pitchFamily="34" charset="-120"/>
              </a:rPr>
              <a:t>Auto-tagging</a:t>
            </a:r>
            <a:endParaRPr lang="en-US" sz="1800" dirty="0"/>
          </a:p>
        </p:txBody>
      </p:sp>
      <p:sp>
        <p:nvSpPr>
          <p:cNvPr id="20" name="Text 18"/>
          <p:cNvSpPr/>
          <p:nvPr/>
        </p:nvSpPr>
        <p:spPr>
          <a:xfrm>
            <a:off x="6568694" y="2536031"/>
            <a:ext cx="4655439"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568"/>
                </a:solidFill>
                <a:latin typeface="Sarabun" pitchFamily="34" charset="0"/>
                <a:ea typeface="Sarabun" pitchFamily="34" charset="-122"/>
                <a:cs typeface="Sarabun" pitchFamily="34" charset="-120"/>
              </a:rPr>
              <a:t>Admin ตั้งกฎ เช่น ชื่อมี “bug” → Label Bug, Priority สูง</a:t>
            </a:r>
            <a:endParaRPr lang="en-US" sz="1300" dirty="0"/>
          </a:p>
          <a:p>
            <a:pPr algn="l" marL="168656" indent="-168656">
              <a:lnSpc>
                <a:spcPts val="1950"/>
              </a:lnSpc>
              <a:buSzPct val="100000"/>
              <a:buChar char="•"/>
            </a:pPr>
            <a:r>
              <a:rPr lang="en-US" sz="1300" dirty="0">
                <a:solidFill>
                  <a:srgbClr val="4A5568"/>
                </a:solidFill>
                <a:latin typeface="Sarabun" pitchFamily="34" charset="0"/>
                <a:ea typeface="Sarabun" pitchFamily="34" charset="-122"/>
                <a:cs typeface="Sarabun" pitchFamily="34" charset="-120"/>
              </a:rPr>
              <a:t>ไม่มีกฎที่ตรง → AI เลือก Label ที่มีอยู่แล้ว สูงสุด 3 อัน</a:t>
            </a:r>
            <a:endParaRPr lang="en-US" sz="1300" dirty="0"/>
          </a:p>
          <a:p>
            <a:pPr algn="l" marL="168656" indent="-168656">
              <a:lnSpc>
                <a:spcPts val="1950"/>
              </a:lnSpc>
              <a:buSzPct val="100000"/>
              <a:buChar char="•"/>
            </a:pPr>
            <a:r>
              <a:rPr lang="en-US" sz="1300" dirty="0">
                <a:solidFill>
                  <a:srgbClr val="4A5568"/>
                </a:solidFill>
                <a:latin typeface="Sarabun" pitchFamily="34" charset="0"/>
                <a:ea typeface="Sarabun" pitchFamily="34" charset="-122"/>
                <a:cs typeface="Sarabun" pitchFamily="34" charset="-120"/>
              </a:rPr>
              <a:t>หน้ายืนยันบอกว่ามาจากกฎ หรือจาก AI</a:t>
            </a:r>
            <a:endParaRPr lang="en-US" sz="1300" dirty="0"/>
          </a:p>
          <a:p>
            <a:pPr algn="l" marL="168656" indent="-168656">
              <a:lnSpc>
                <a:spcPts val="1950"/>
              </a:lnSpc>
              <a:buSzPct val="100000"/>
              <a:buChar char="•"/>
            </a:pPr>
            <a:r>
              <a:rPr lang="en-US" sz="1300" dirty="0">
                <a:solidFill>
                  <a:srgbClr val="4A5568"/>
                </a:solidFill>
                <a:latin typeface="Sarabun" pitchFamily="34" charset="0"/>
                <a:ea typeface="Sarabun" pitchFamily="34" charset="-122"/>
                <a:cs typeface="Sarabun" pitchFamily="34" charset="-120"/>
              </a:rPr>
              <a:t>กด “ยืนยัน (ไม่ใส่ tag)” ได้</a:t>
            </a:r>
            <a:endParaRPr lang="en-US" sz="1300" dirty="0"/>
          </a:p>
          <a:p>
            <a:pPr algn="l" marL="168656" indent="-168656">
              <a:lnSpc>
                <a:spcPts val="1950"/>
              </a:lnSpc>
              <a:buSzPct val="100000"/>
              <a:buChar char="•"/>
            </a:pPr>
            <a:r>
              <a:rPr lang="en-US" sz="1300" dirty="0">
                <a:solidFill>
                  <a:srgbClr val="4A5568"/>
                </a:solidFill>
                <a:latin typeface="Sarabun" pitchFamily="34" charset="0"/>
                <a:ea typeface="Sarabun" pitchFamily="34" charset="-122"/>
                <a:cs typeface="Sarabun" pitchFamily="34" charset="-120"/>
              </a:rPr>
              <a:t>ผู้ใช้พิมพ์ “ด่วน” เอง → ใช้ค่านั้นก่อน</a:t>
            </a:r>
            <a:endParaRPr lang="en-US" sz="13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ตั้งกฎที่ Settings → AI Assistant → Auto-tagging</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ฟีเจอร์ 9</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แจ้งเตือนในกลุ่ม</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1741"/>
          <a:ext cx="5839420" cy="2178645"/>
        </p:xfrm>
        <a:graphic>
          <a:graphicData uri="http://schemas.openxmlformats.org/drawingml/2006/table">
            <a:tbl>
              <a:tblPr/>
              <a:tblGrid>
                <a:gridCol w="2218980"/>
                <a:gridCol w="3620441"/>
              </a:tblGrid>
              <a:tr h="385961">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พิมพ์ในกลุ่ม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ทำอะไร</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634802">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ผูกกลุ่ม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เลือก Workspace แล้วเลือก Project หรือ “ทุก Project”</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ตั้งค่ากลุ่ม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เปิด/ปิด งานใหม่ · มอบหมาย · เสร็จ</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ยกเลิกผูกกลุ่ม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หยุดส่งแจ้งเตือนเข้ากลุ่มนี้</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วิธีใช้กลุ่ม</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ดูคำสั่งทั้งหมด</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bl>
          </a:graphicData>
        </a:graphic>
      </p:graphicFrame>
      <p:sp>
        <p:nvSpPr>
          <p:cNvPr id="5" name="Text 2"/>
          <p:cNvSpPr/>
          <p:nvPr/>
        </p:nvSpPr>
        <p:spPr>
          <a:xfrm>
            <a:off x="812800" y="4192786"/>
            <a:ext cx="1095573" cy="401241"/>
          </a:xfrm>
          <a:prstGeom prst="roundRect">
            <a:avLst>
              <a:gd name="adj" fmla="val 50000"/>
            </a:avLst>
          </a:prstGeom>
          <a:solidFill>
            <a:srgbClr val="E3E8F0"/>
          </a:solidFill>
          <a:ln/>
        </p:spPr>
        <p:txBody>
          <a:bodyPr wrap="none" lIns="0" tIns="0" rIns="0" bIns="0" rtlCol="0" anchor="ctr">
            <a:normAutofit/>
          </a:bodyPr>
          <a:lstStyle/>
          <a:p>
            <a:pPr algn="ctr" indent="0" marL="0">
              <a:lnSpc>
                <a:spcPts val="1960"/>
              </a:lnSpc>
              <a:buNone/>
            </a:pPr>
            <a:r>
              <a:rPr lang="en-US" sz="1400" dirty="0">
                <a:solidFill>
                  <a:srgbClr val="16223A"/>
                </a:solidFill>
                <a:latin typeface="Sarabun" pitchFamily="34" charset="0"/>
                <a:ea typeface="Sarabun" pitchFamily="34" charset="-122"/>
                <a:cs typeface="Sarabun" pitchFamily="34" charset="-120"/>
              </a:rPr>
              <a:t>🆕 งานใหม่</a:t>
            </a:r>
            <a:endParaRPr lang="en-US" sz="1400" dirty="0"/>
          </a:p>
        </p:txBody>
      </p:sp>
      <p:sp>
        <p:nvSpPr>
          <p:cNvPr id="6" name="Text 3"/>
          <p:cNvSpPr/>
          <p:nvPr/>
        </p:nvSpPr>
        <p:spPr>
          <a:xfrm>
            <a:off x="2009973" y="4192786"/>
            <a:ext cx="1264245" cy="401241"/>
          </a:xfrm>
          <a:prstGeom prst="roundRect">
            <a:avLst>
              <a:gd name="adj" fmla="val 50000"/>
            </a:avLst>
          </a:prstGeom>
          <a:solidFill>
            <a:srgbClr val="E3E8F0"/>
          </a:solidFill>
          <a:ln/>
        </p:spPr>
        <p:txBody>
          <a:bodyPr wrap="none" lIns="0" tIns="0" rIns="0" bIns="0" rtlCol="0" anchor="ctr">
            <a:normAutofit/>
          </a:bodyPr>
          <a:lstStyle/>
          <a:p>
            <a:pPr algn="ctr" indent="0" marL="0">
              <a:lnSpc>
                <a:spcPts val="1960"/>
              </a:lnSpc>
              <a:buNone/>
            </a:pPr>
            <a:r>
              <a:rPr lang="en-US" sz="1400" dirty="0">
                <a:solidFill>
                  <a:srgbClr val="16223A"/>
                </a:solidFill>
                <a:latin typeface="Sarabun" pitchFamily="34" charset="0"/>
                <a:ea typeface="Sarabun" pitchFamily="34" charset="-122"/>
                <a:cs typeface="Sarabun" pitchFamily="34" charset="-120"/>
              </a:rPr>
              <a:t>👤 มอบหมาย</a:t>
            </a:r>
            <a:endParaRPr lang="en-US" sz="1400" dirty="0"/>
          </a:p>
        </p:txBody>
      </p:sp>
      <p:sp>
        <p:nvSpPr>
          <p:cNvPr id="7" name="Text 4"/>
          <p:cNvSpPr/>
          <p:nvPr/>
        </p:nvSpPr>
        <p:spPr>
          <a:xfrm>
            <a:off x="3375819" y="4192786"/>
            <a:ext cx="1690291" cy="401241"/>
          </a:xfrm>
          <a:prstGeom prst="roundRect">
            <a:avLst>
              <a:gd name="adj" fmla="val 50000"/>
            </a:avLst>
          </a:prstGeom>
          <a:solidFill>
            <a:srgbClr val="FBE3D3"/>
          </a:solidFill>
          <a:ln/>
        </p:spPr>
        <p:txBody>
          <a:bodyPr wrap="none" lIns="0" tIns="0" rIns="0" bIns="0" rtlCol="0" anchor="ctr">
            <a:normAutofit/>
          </a:bodyPr>
          <a:lstStyle/>
          <a:p>
            <a:pPr algn="ctr" indent="0" marL="0">
              <a:lnSpc>
                <a:spcPts val="1960"/>
              </a:lnSpc>
              <a:buNone/>
            </a:pPr>
            <a:r>
              <a:rPr lang="en-US" sz="1400" dirty="0">
                <a:solidFill>
                  <a:srgbClr val="16223A"/>
                </a:solidFill>
                <a:latin typeface="Sarabun" pitchFamily="34" charset="0"/>
                <a:ea typeface="Sarabun" pitchFamily="34" charset="-122"/>
                <a:cs typeface="Sarabun" pitchFamily="34" charset="-120"/>
              </a:rPr>
              <a:t>✅ เสร็จ (ค่าเริ่มต้น)</a:t>
            </a:r>
            <a:endParaRPr lang="en-US" sz="1400" dirty="0"/>
          </a:p>
        </p:txBody>
      </p:sp>
      <p:sp>
        <p:nvSpPr>
          <p:cNvPr id="8" name="Shape 5"/>
          <p:cNvSpPr/>
          <p:nvPr/>
        </p:nvSpPr>
        <p:spPr>
          <a:xfrm>
            <a:off x="6918920" y="1849041"/>
            <a:ext cx="4460280" cy="2744986"/>
          </a:xfrm>
          <a:prstGeom prst="roundRect">
            <a:avLst>
              <a:gd name="adj" fmla="val 4627"/>
            </a:avLst>
          </a:prstGeom>
          <a:solidFill>
            <a:srgbClr val="16223A"/>
          </a:solidFill>
          <a:ln/>
        </p:spPr>
      </p:sp>
      <p:pic>
        <p:nvPicPr>
          <p:cNvPr id="9" name="Image 0" descr="Lock">    </p:cNvPr>
          <p:cNvPicPr>
            <a:picLocks noChangeAspect="1"/>
          </p:cNvPicPr>
          <p:nvPr/>
        </p:nvPicPr>
        <p:blipFill>
          <a:blip r:embed="rId1"/>
          <a:srcRect l="0" r="0" t="0" b="0"/>
          <a:stretch/>
        </p:blipFill>
        <p:spPr>
          <a:xfrm>
            <a:off x="7198320" y="2128441"/>
            <a:ext cx="330200" cy="330200"/>
          </a:xfrm>
          <a:prstGeom prst="rect">
            <a:avLst/>
          </a:prstGeom>
        </p:spPr>
      </p:pic>
      <p:sp>
        <p:nvSpPr>
          <p:cNvPr id="10" name="Text 6"/>
          <p:cNvSpPr/>
          <p:nvPr/>
        </p:nvSpPr>
        <p:spPr>
          <a:xfrm>
            <a:off x="7198320" y="2585641"/>
            <a:ext cx="401852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0"/>
                </a:solidFill>
                <a:latin typeface="Prompt" pitchFamily="34" charset="0"/>
                <a:ea typeface="Prompt" pitchFamily="34" charset="-122"/>
                <a:cs typeface="Prompt" pitchFamily="34" charset="-120"/>
              </a:rPr>
              <a:t>กติกา</a:t>
            </a:r>
            <a:endParaRPr lang="en-US" sz="1800" dirty="0"/>
          </a:p>
        </p:txBody>
      </p:sp>
      <p:sp>
        <p:nvSpPr>
          <p:cNvPr id="11" name="Text 7"/>
          <p:cNvSpPr/>
          <p:nvPr/>
        </p:nvSpPr>
        <p:spPr>
          <a:xfrm>
            <a:off x="7283664" y="2986881"/>
            <a:ext cx="3925560" cy="7683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D5DEEA"/>
                </a:solidFill>
                <a:latin typeface="Sarabun" pitchFamily="34" charset="0"/>
                <a:ea typeface="Sarabun" pitchFamily="34" charset="-122"/>
                <a:cs typeface="Sarabun" pitchFamily="34" charset="-120"/>
              </a:rPr>
              <a:t>ในกลุ่มบอทเงียบ ตอบเฉพาะคำสั่งกลุ่ม</a:t>
            </a:r>
            <a:endParaRPr lang="en-US" sz="1300" dirty="0"/>
          </a:p>
          <a:p>
            <a:pPr algn="l" marL="168656" indent="-168656">
              <a:lnSpc>
                <a:spcPts val="1950"/>
              </a:lnSpc>
              <a:buSzPct val="100000"/>
              <a:buChar char="•"/>
            </a:pPr>
            <a:r>
              <a:rPr lang="en-US" sz="1300" dirty="0">
                <a:solidFill>
                  <a:srgbClr val="D5DEEA"/>
                </a:solidFill>
                <a:latin typeface="Sarabun" pitchFamily="34" charset="0"/>
                <a:ea typeface="Sarabun" pitchFamily="34" charset="-122"/>
                <a:cs typeface="Sarabun" pitchFamily="34" charset="-120"/>
              </a:rPr>
              <a:t>ผูกได้เฉพาะคนที่ผูกบัญชีแล้ว</a:t>
            </a:r>
            <a:endParaRPr lang="en-US" sz="1300" dirty="0"/>
          </a:p>
          <a:p>
            <a:pPr algn="l" marL="168656" indent="-168656">
              <a:lnSpc>
                <a:spcPts val="1950"/>
              </a:lnSpc>
              <a:buSzPct val="100000"/>
              <a:buChar char="•"/>
            </a:pPr>
            <a:r>
              <a:rPr lang="en-US" sz="1300" dirty="0">
                <a:solidFill>
                  <a:srgbClr val="D5DEEA"/>
                </a:solidFill>
                <a:latin typeface="Sarabun" pitchFamily="34" charset="0"/>
                <a:ea typeface="Sarabun" pitchFamily="34" charset="-122"/>
                <a:cs typeface="Sarabun" pitchFamily="34" charset="-120"/>
              </a:rPr>
              <a:t>เลือกได้เฉพาะ Project ที่ตัวเองเข้าถึง</a:t>
            </a:r>
            <a:endParaRPr lang="en-US" sz="1300" dirty="0"/>
          </a:p>
        </p:txBody>
      </p:sp>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LINE: เปิดให้บัญชีเข้ากลุ่มได้ · Discord: เชิญบอทเข้า server</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ฟีเจอร์ 10</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Timeline และ Audit log</a:t>
            </a:r>
            <a:endParaRPr lang="en-US" sz="3200" dirty="0"/>
          </a:p>
        </p:txBody>
      </p:sp>
      <p:sp>
        <p:nvSpPr>
          <p:cNvPr id="4" name="Shape 2"/>
          <p:cNvSpPr/>
          <p:nvPr/>
        </p:nvSpPr>
        <p:spPr>
          <a:xfrm>
            <a:off x="812800" y="1849041"/>
            <a:ext cx="5461000" cy="2689423"/>
          </a:xfrm>
          <a:prstGeom prst="roundRect">
            <a:avLst>
              <a:gd name="adj" fmla="val 4722"/>
            </a:avLst>
          </a:prstGeom>
          <a:solidFill>
            <a:srgbClr val="16223A"/>
          </a:solidFill>
          <a:ln/>
        </p:spPr>
      </p:sp>
      <p:sp>
        <p:nvSpPr>
          <p:cNvPr id="5" name="Text 3"/>
          <p:cNvSpPr/>
          <p:nvPr/>
        </p:nvSpPr>
        <p:spPr>
          <a:xfrm>
            <a:off x="1092200" y="2128441"/>
            <a:ext cx="50492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742C"/>
                </a:solidFill>
                <a:latin typeface="Sarabun" pitchFamily="34" charset="0"/>
                <a:ea typeface="Sarabun" pitchFamily="34" charset="-122"/>
                <a:cs typeface="Sarabun" pitchFamily="34" charset="-120"/>
              </a:rPr>
              <a:t>ตัวอย่างในแชท</a:t>
            </a:r>
            <a:endParaRPr lang="en-US" sz="1200" dirty="0"/>
          </a:p>
        </p:txBody>
      </p:sp>
      <p:sp>
        <p:nvSpPr>
          <p:cNvPr id="6" name="Text 4"/>
          <p:cNvSpPr/>
          <p:nvPr/>
        </p:nvSpPr>
        <p:spPr>
          <a:xfrm>
            <a:off x="1092200" y="2443361"/>
            <a:ext cx="504926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0"/>
                </a:solidFill>
                <a:latin typeface="Sarabun" pitchFamily="34" charset="0"/>
                <a:ea typeface="Sarabun" pitchFamily="34" charset="-122"/>
                <a:cs typeface="Sarabun" pitchFamily="34" charset="-120"/>
              </a:rPr>
              <a:t>📜 ประวัติ PROM-3</a:t>
            </a:r>
            <a:endParaRPr lang="en-US" sz="1400" dirty="0"/>
          </a:p>
        </p:txBody>
      </p:sp>
      <p:sp>
        <p:nvSpPr>
          <p:cNvPr id="7" name="Text 5"/>
          <p:cNvSpPr/>
          <p:nvPr/>
        </p:nvSpPr>
        <p:spPr>
          <a:xfrm>
            <a:off x="1092200" y="2793802"/>
            <a:ext cx="50492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26 ต.ค. 15:10 · 🌐 Plane · ผู้ใช้ B — Priority: → สูง</a:t>
            </a:r>
            <a:endParaRPr lang="en-US" sz="1300" dirty="0"/>
          </a:p>
        </p:txBody>
      </p:sp>
      <p:sp>
        <p:nvSpPr>
          <p:cNvPr id="8" name="Text 6"/>
          <p:cNvSpPr/>
          <p:nvPr/>
        </p:nvSpPr>
        <p:spPr>
          <a:xfrm>
            <a:off x="1092200" y="3126482"/>
            <a:ext cx="50492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26 ต.ค. 14:00 · 💬 LINE · ผู้ใช้ A — สถานะ: Todo → Done</a:t>
            </a:r>
            <a:endParaRPr lang="en-US" sz="1300" dirty="0"/>
          </a:p>
        </p:txBody>
      </p:sp>
      <p:sp>
        <p:nvSpPr>
          <p:cNvPr id="9" name="Text 7"/>
          <p:cNvSpPr/>
          <p:nvPr/>
        </p:nvSpPr>
        <p:spPr>
          <a:xfrm>
            <a:off x="1092200" y="3459163"/>
            <a:ext cx="50492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Sarabun" pitchFamily="34" charset="0"/>
                <a:ea typeface="Sarabun" pitchFamily="34" charset="-122"/>
                <a:cs typeface="Sarabun" pitchFamily="34" charset="-120"/>
              </a:rPr>
              <a:t>25 ต.ค. 09:30 · 🎮 Discord · ผู้ใช้ A — สร้างงาน</a:t>
            </a:r>
            <a:endParaRPr lang="en-US" sz="1300" dirty="0"/>
          </a:p>
        </p:txBody>
      </p:sp>
      <p:sp>
        <p:nvSpPr>
          <p:cNvPr id="10" name="Shape 8"/>
          <p:cNvSpPr/>
          <p:nvPr/>
        </p:nvSpPr>
        <p:spPr>
          <a:xfrm>
            <a:off x="6480175" y="1852216"/>
            <a:ext cx="4895850" cy="1262162"/>
          </a:xfrm>
          <a:prstGeom prst="roundRect">
            <a:avLst>
              <a:gd name="adj" fmla="val 9811"/>
            </a:avLst>
          </a:prstGeom>
          <a:solidFill>
            <a:srgbClr val="FFFDF8"/>
          </a:solidFill>
          <a:ln w="6350">
            <a:solidFill>
              <a:srgbClr val="E2E0D8"/>
            </a:solidFill>
            <a:prstDash val="solid"/>
          </a:ln>
        </p:spPr>
      </p:sp>
      <p:sp>
        <p:nvSpPr>
          <p:cNvPr id="11" name="Text 9"/>
          <p:cNvSpPr/>
          <p:nvPr/>
        </p:nvSpPr>
        <p:spPr>
          <a:xfrm>
            <a:off x="6711950" y="2083991"/>
            <a:ext cx="45652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ดูในแชท</a:t>
            </a:r>
            <a:endParaRPr lang="en-US" sz="1600" dirty="0"/>
          </a:p>
        </p:txBody>
      </p:sp>
      <p:sp>
        <p:nvSpPr>
          <p:cNvPr id="12" name="Text 10"/>
          <p:cNvSpPr/>
          <p:nvPr/>
        </p:nvSpPr>
        <p:spPr>
          <a:xfrm>
            <a:off x="6711950" y="2403971"/>
            <a:ext cx="4565269"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Sarabun" pitchFamily="34" charset="0"/>
                <a:ea typeface="Sarabun" pitchFamily="34" charset="-122"/>
                <a:cs typeface="Sarabun" pitchFamily="34" charset="-120"/>
              </a:rPr>
              <a:t>เปิดงาน → อัปเดต → ประวัติ หรือพิมพ์ “ประวัติ” หรือถาม AI “ใครแก้งานนี้”</a:t>
            </a:r>
            <a:endParaRPr lang="en-US" sz="1300" dirty="0"/>
          </a:p>
        </p:txBody>
      </p:sp>
      <p:sp>
        <p:nvSpPr>
          <p:cNvPr id="13" name="Shape 11"/>
          <p:cNvSpPr/>
          <p:nvPr/>
        </p:nvSpPr>
        <p:spPr>
          <a:xfrm>
            <a:off x="6480175" y="3273127"/>
            <a:ext cx="4895850" cy="1262162"/>
          </a:xfrm>
          <a:prstGeom prst="roundRect">
            <a:avLst>
              <a:gd name="adj" fmla="val 9811"/>
            </a:avLst>
          </a:prstGeom>
          <a:solidFill>
            <a:srgbClr val="FFFDF8"/>
          </a:solidFill>
          <a:ln w="6350">
            <a:solidFill>
              <a:srgbClr val="E2E0D8"/>
            </a:solidFill>
            <a:prstDash val="solid"/>
          </a:ln>
        </p:spPr>
      </p:sp>
      <p:sp>
        <p:nvSpPr>
          <p:cNvPr id="14" name="Text 12"/>
          <p:cNvSpPr/>
          <p:nvPr/>
        </p:nvSpPr>
        <p:spPr>
          <a:xfrm>
            <a:off x="6711950" y="3504902"/>
            <a:ext cx="45652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ดูในเว็บ</a:t>
            </a:r>
            <a:endParaRPr lang="en-US" sz="1600" dirty="0"/>
          </a:p>
        </p:txBody>
      </p:sp>
      <p:sp>
        <p:nvSpPr>
          <p:cNvPr id="15" name="Text 13"/>
          <p:cNvSpPr/>
          <p:nvPr/>
        </p:nvSpPr>
        <p:spPr>
          <a:xfrm>
            <a:off x="6711950" y="3824883"/>
            <a:ext cx="4565269"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Sarabun" pitchFamily="34" charset="0"/>
                <a:ea typeface="Sarabun" pitchFamily="34" charset="-122"/>
                <a:cs typeface="Sarabun" pitchFamily="34" charset="-120"/>
              </a:rPr>
              <a:t>Settings → Integrations → Audit log กรองตามช่องทาง action ผลลัพธ์ และช่วงเวลา</a:t>
            </a:r>
            <a:endParaRPr lang="en-US" sz="13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ป้ายที่มา: 💬 LINE · 🎮 Discord · 🔗 Hub · 🌐 Plane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A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ความปลอดภัย</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ออกแบบให้ปฏิเสธไว้ก่อน</a:t>
            </a:r>
            <a:endParaRPr lang="en-US" sz="3200" dirty="0"/>
          </a:p>
        </p:txBody>
      </p:sp>
      <p:sp>
        <p:nvSpPr>
          <p:cNvPr id="4" name="Shape 2"/>
          <p:cNvSpPr/>
          <p:nvPr/>
        </p:nvSpPr>
        <p:spPr>
          <a:xfrm>
            <a:off x="812800" y="1849041"/>
            <a:ext cx="3420467" cy="1620341"/>
          </a:xfrm>
          <a:prstGeom prst="roundRect">
            <a:avLst>
              <a:gd name="adj" fmla="val 7838"/>
            </a:avLst>
          </a:prstGeom>
          <a:solidFill>
            <a:srgbClr val="FFFDF8"/>
          </a:solidFill>
          <a:ln/>
        </p:spPr>
      </p:sp>
      <p:pic>
        <p:nvPicPr>
          <p:cNvPr id="5" name="Image 0" descr="Verified">    </p:cNvPr>
          <p:cNvPicPr>
            <a:picLocks noChangeAspect="1"/>
          </p:cNvPicPr>
          <p:nvPr/>
        </p:nvPicPr>
        <p:blipFill>
          <a:blip r:embed="rId1"/>
          <a:srcRect l="0" r="0" t="0" b="0"/>
          <a:stretch/>
        </p:blipFill>
        <p:spPr>
          <a:xfrm>
            <a:off x="1041400" y="2077641"/>
            <a:ext cx="304800" cy="304800"/>
          </a:xfrm>
          <a:prstGeom prst="rect">
            <a:avLst/>
          </a:prstGeom>
        </p:spPr>
      </p:pic>
      <p:sp>
        <p:nvSpPr>
          <p:cNvPr id="6" name="Text 3"/>
          <p:cNvSpPr/>
          <p:nvPr/>
        </p:nvSpPr>
        <p:spPr>
          <a:xfrm>
            <a:off x="1041400" y="2458641"/>
            <a:ext cx="30521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ตรวจลายเซ็น</a:t>
            </a:r>
            <a:endParaRPr lang="en-US" sz="1600" dirty="0"/>
          </a:p>
        </p:txBody>
      </p:sp>
      <p:sp>
        <p:nvSpPr>
          <p:cNvPr id="7" name="Text 4"/>
          <p:cNvSpPr/>
          <p:nvPr/>
        </p:nvSpPr>
        <p:spPr>
          <a:xfrm>
            <a:off x="1041400" y="2778621"/>
            <a:ext cx="30521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Webhook ไม่มี secret หรือลายเซ็นผิด → ปฏิเสธเสมอ</a:t>
            </a:r>
            <a:endParaRPr lang="en-US" sz="1300" dirty="0"/>
          </a:p>
        </p:txBody>
      </p:sp>
      <p:sp>
        <p:nvSpPr>
          <p:cNvPr id="8" name="Shape 5"/>
          <p:cNvSpPr/>
          <p:nvPr/>
        </p:nvSpPr>
        <p:spPr>
          <a:xfrm>
            <a:off x="4385667" y="1849041"/>
            <a:ext cx="3420566" cy="1620341"/>
          </a:xfrm>
          <a:prstGeom prst="roundRect">
            <a:avLst>
              <a:gd name="adj" fmla="val 7838"/>
            </a:avLst>
          </a:prstGeom>
          <a:solidFill>
            <a:srgbClr val="FFFDF8"/>
          </a:solidFill>
          <a:ln/>
        </p:spPr>
      </p:sp>
      <p:pic>
        <p:nvPicPr>
          <p:cNvPr id="9" name="Image 1" descr="Key">    </p:cNvPr>
          <p:cNvPicPr>
            <a:picLocks noChangeAspect="1"/>
          </p:cNvPicPr>
          <p:nvPr/>
        </p:nvPicPr>
        <p:blipFill>
          <a:blip r:embed="rId2"/>
          <a:srcRect l="0" r="0" t="0" b="0"/>
          <a:stretch/>
        </p:blipFill>
        <p:spPr>
          <a:xfrm>
            <a:off x="4614267" y="2077641"/>
            <a:ext cx="304800" cy="304800"/>
          </a:xfrm>
          <a:prstGeom prst="rect">
            <a:avLst/>
          </a:prstGeom>
        </p:spPr>
      </p:pic>
      <p:sp>
        <p:nvSpPr>
          <p:cNvPr id="10" name="Text 6"/>
          <p:cNvSpPr/>
          <p:nvPr/>
        </p:nvSpPr>
        <p:spPr>
          <a:xfrm>
            <a:off x="4614267" y="2458641"/>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เข้ารหัสข้อมูลลับ</a:t>
            </a:r>
            <a:endParaRPr lang="en-US" sz="1600" dirty="0"/>
          </a:p>
        </p:txBody>
      </p:sp>
      <p:sp>
        <p:nvSpPr>
          <p:cNvPr id="11" name="Text 7"/>
          <p:cNvSpPr/>
          <p:nvPr/>
        </p:nvSpPr>
        <p:spPr>
          <a:xfrm>
            <a:off x="4614267" y="2778621"/>
            <a:ext cx="30522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Token และ API key เข้ารหัสก่อนเก็บ ไม่ส่งกลับหน้าเว็บ</a:t>
            </a:r>
            <a:endParaRPr lang="en-US" sz="1300" dirty="0"/>
          </a:p>
        </p:txBody>
      </p:sp>
      <p:sp>
        <p:nvSpPr>
          <p:cNvPr id="12" name="Shape 8"/>
          <p:cNvSpPr/>
          <p:nvPr/>
        </p:nvSpPr>
        <p:spPr>
          <a:xfrm>
            <a:off x="7958634" y="1849041"/>
            <a:ext cx="3420566" cy="1620341"/>
          </a:xfrm>
          <a:prstGeom prst="roundRect">
            <a:avLst>
              <a:gd name="adj" fmla="val 7838"/>
            </a:avLst>
          </a:prstGeom>
          <a:solidFill>
            <a:srgbClr val="FFFDF8"/>
          </a:solidFill>
          <a:ln/>
        </p:spPr>
      </p:sp>
      <p:pic>
        <p:nvPicPr>
          <p:cNvPr id="13" name="Image 2" descr="Lock">    </p:cNvPr>
          <p:cNvPicPr>
            <a:picLocks noChangeAspect="1"/>
          </p:cNvPicPr>
          <p:nvPr/>
        </p:nvPicPr>
        <p:blipFill>
          <a:blip r:embed="rId3"/>
          <a:srcRect l="0" r="0" t="0" b="0"/>
          <a:stretch/>
        </p:blipFill>
        <p:spPr>
          <a:xfrm>
            <a:off x="8187234" y="2077641"/>
            <a:ext cx="304800" cy="304800"/>
          </a:xfrm>
          <a:prstGeom prst="rect">
            <a:avLst/>
          </a:prstGeom>
        </p:spPr>
      </p:pic>
      <p:sp>
        <p:nvSpPr>
          <p:cNvPr id="14" name="Text 9"/>
          <p:cNvSpPr/>
          <p:nvPr/>
        </p:nvSpPr>
        <p:spPr>
          <a:xfrm>
            <a:off x="8187234" y="2458641"/>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ผ่าน Plane เท่านั้น</a:t>
            </a:r>
            <a:endParaRPr lang="en-US" sz="1600" dirty="0"/>
          </a:p>
        </p:txBody>
      </p:sp>
      <p:sp>
        <p:nvSpPr>
          <p:cNvPr id="15" name="Text 10"/>
          <p:cNvSpPr/>
          <p:nvPr/>
        </p:nvSpPr>
        <p:spPr>
          <a:xfrm>
            <a:off x="8187234" y="2778621"/>
            <a:ext cx="30522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เบราว์เซอร์ไม่เรียก Hub ตรง service token อยู่ฝั่งเซิร์ฟเวอร์</a:t>
            </a:r>
            <a:endParaRPr lang="en-US" sz="1300" dirty="0"/>
          </a:p>
        </p:txBody>
      </p:sp>
      <p:sp>
        <p:nvSpPr>
          <p:cNvPr id="16" name="Shape 11"/>
          <p:cNvSpPr/>
          <p:nvPr/>
        </p:nvSpPr>
        <p:spPr>
          <a:xfrm>
            <a:off x="812800" y="3621782"/>
            <a:ext cx="3420467" cy="1620341"/>
          </a:xfrm>
          <a:prstGeom prst="roundRect">
            <a:avLst>
              <a:gd name="adj" fmla="val 7838"/>
            </a:avLst>
          </a:prstGeom>
          <a:solidFill>
            <a:srgbClr val="FFFDF8"/>
          </a:solidFill>
          <a:ln/>
        </p:spPr>
      </p:sp>
      <p:pic>
        <p:nvPicPr>
          <p:cNvPr id="17" name="Image 3" descr="Users">    </p:cNvPr>
          <p:cNvPicPr>
            <a:picLocks noChangeAspect="1"/>
          </p:cNvPicPr>
          <p:nvPr/>
        </p:nvPicPr>
        <p:blipFill>
          <a:blip r:embed="rId4"/>
          <a:srcRect l="0" r="0" t="0" b="0"/>
          <a:stretch/>
        </p:blipFill>
        <p:spPr>
          <a:xfrm>
            <a:off x="1041400" y="3850382"/>
            <a:ext cx="304800" cy="304800"/>
          </a:xfrm>
          <a:prstGeom prst="rect">
            <a:avLst/>
          </a:prstGeom>
        </p:spPr>
      </p:pic>
      <p:sp>
        <p:nvSpPr>
          <p:cNvPr id="18" name="Text 12"/>
          <p:cNvSpPr/>
          <p:nvPr/>
        </p:nvSpPr>
        <p:spPr>
          <a:xfrm>
            <a:off x="1041400" y="4231382"/>
            <a:ext cx="30521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สิทธิ์ของผู้ใช้</a:t>
            </a:r>
            <a:endParaRPr lang="en-US" sz="1600" dirty="0"/>
          </a:p>
        </p:txBody>
      </p:sp>
      <p:sp>
        <p:nvSpPr>
          <p:cNvPr id="19" name="Text 13"/>
          <p:cNvSpPr/>
          <p:nvPr/>
        </p:nvSpPr>
        <p:spPr>
          <a:xfrm>
            <a:off x="1041400" y="4551363"/>
            <a:ext cx="30521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ทุกคำสั่งใช้สิทธิ์ของคนที่พิมพ์ เห็นได้เฉพาะงานที่ตัวเองเข้าถึง</a:t>
            </a:r>
            <a:endParaRPr lang="en-US" sz="1300" dirty="0"/>
          </a:p>
        </p:txBody>
      </p:sp>
      <p:sp>
        <p:nvSpPr>
          <p:cNvPr id="20" name="Shape 14"/>
          <p:cNvSpPr/>
          <p:nvPr/>
        </p:nvSpPr>
        <p:spPr>
          <a:xfrm>
            <a:off x="4385667" y="3621782"/>
            <a:ext cx="3420566" cy="1620341"/>
          </a:xfrm>
          <a:prstGeom prst="roundRect">
            <a:avLst>
              <a:gd name="adj" fmla="val 7838"/>
            </a:avLst>
          </a:prstGeom>
          <a:solidFill>
            <a:srgbClr val="FFFDF8"/>
          </a:solidFill>
          <a:ln/>
        </p:spPr>
      </p:sp>
      <p:pic>
        <p:nvPicPr>
          <p:cNvPr id="21" name="Image 4" descr="Check">    </p:cNvPr>
          <p:cNvPicPr>
            <a:picLocks noChangeAspect="1"/>
          </p:cNvPicPr>
          <p:nvPr/>
        </p:nvPicPr>
        <p:blipFill>
          <a:blip r:embed="rId5"/>
          <a:srcRect l="0" r="0" t="0" b="0"/>
          <a:stretch/>
        </p:blipFill>
        <p:spPr>
          <a:xfrm>
            <a:off x="4614267" y="3850382"/>
            <a:ext cx="304800" cy="304800"/>
          </a:xfrm>
          <a:prstGeom prst="rect">
            <a:avLst/>
          </a:prstGeom>
        </p:spPr>
      </p:pic>
      <p:sp>
        <p:nvSpPr>
          <p:cNvPr id="22" name="Text 15"/>
          <p:cNvSpPr/>
          <p:nvPr/>
        </p:nvSpPr>
        <p:spPr>
          <a:xfrm>
            <a:off x="4614267" y="4231382"/>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กันข้อความซ้ำ</a:t>
            </a:r>
            <a:endParaRPr lang="en-US" sz="1600" dirty="0"/>
          </a:p>
        </p:txBody>
      </p:sp>
      <p:sp>
        <p:nvSpPr>
          <p:cNvPr id="23" name="Text 16"/>
          <p:cNvSpPr/>
          <p:nvPr/>
        </p:nvSpPr>
        <p:spPr>
          <a:xfrm>
            <a:off x="4614267" y="4551363"/>
            <a:ext cx="30522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LINE / Discord ส่งซ้ำ ก็ไม่สร้างงานซ้ำ</a:t>
            </a:r>
            <a:endParaRPr lang="en-US" sz="1300" dirty="0"/>
          </a:p>
        </p:txBody>
      </p:sp>
      <p:sp>
        <p:nvSpPr>
          <p:cNvPr id="24" name="Shape 17"/>
          <p:cNvSpPr/>
          <p:nvPr/>
        </p:nvSpPr>
        <p:spPr>
          <a:xfrm>
            <a:off x="7958634" y="3621782"/>
            <a:ext cx="3420566" cy="1620341"/>
          </a:xfrm>
          <a:prstGeom prst="roundRect">
            <a:avLst>
              <a:gd name="adj" fmla="val 7838"/>
            </a:avLst>
          </a:prstGeom>
          <a:solidFill>
            <a:srgbClr val="FFFDF8"/>
          </a:solidFill>
          <a:ln/>
        </p:spPr>
      </p:sp>
      <p:pic>
        <p:nvPicPr>
          <p:cNvPr id="25" name="Image 5" descr="Activity">    </p:cNvPr>
          <p:cNvPicPr>
            <a:picLocks noChangeAspect="1"/>
          </p:cNvPicPr>
          <p:nvPr/>
        </p:nvPicPr>
        <p:blipFill>
          <a:blip r:embed="rId6"/>
          <a:srcRect l="0" r="0" t="0" b="0"/>
          <a:stretch/>
        </p:blipFill>
        <p:spPr>
          <a:xfrm>
            <a:off x="8187234" y="3850382"/>
            <a:ext cx="304800" cy="304800"/>
          </a:xfrm>
          <a:prstGeom prst="rect">
            <a:avLst/>
          </a:prstGeom>
        </p:spPr>
      </p:pic>
      <p:sp>
        <p:nvSpPr>
          <p:cNvPr id="26" name="Text 18"/>
          <p:cNvSpPr/>
          <p:nvPr/>
        </p:nvSpPr>
        <p:spPr>
          <a:xfrm>
            <a:off x="8187234" y="4231382"/>
            <a:ext cx="305226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23A"/>
                </a:solidFill>
                <a:latin typeface="Prompt" pitchFamily="34" charset="0"/>
                <a:ea typeface="Prompt" pitchFamily="34" charset="-122"/>
                <a:cs typeface="Prompt" pitchFamily="34" charset="-120"/>
              </a:rPr>
              <a:t>บันทึกทุกการแก้</a:t>
            </a:r>
            <a:endParaRPr lang="en-US" sz="1600" dirty="0"/>
          </a:p>
        </p:txBody>
      </p:sp>
      <p:sp>
        <p:nvSpPr>
          <p:cNvPr id="27" name="Text 19"/>
          <p:cNvSpPr/>
          <p:nvPr/>
        </p:nvSpPr>
        <p:spPr>
          <a:xfrm>
            <a:off x="8187234" y="4551363"/>
            <a:ext cx="30522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Sarabun" pitchFamily="34" charset="0"/>
                <a:ea typeface="Sarabun" pitchFamily="34" charset="-122"/>
                <a:cs typeface="Sarabun" pitchFamily="34" charset="-120"/>
              </a:rPr>
              <a:t>ทุกการแก้ไขอยู่ใน Audit log พร้อมช่องทาง</a:t>
            </a:r>
            <a:endParaRPr lang="en-US" sz="1300" dirty="0"/>
          </a:p>
        </p:txBody>
      </p:sp>
      <p:sp>
        <p:nvSpPr>
          <p:cNvPr id="28"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23A"/>
        </a:solidFill>
      </p:bgPr>
    </p:bg>
    <p:spTree>
      <p:nvGrpSpPr>
        <p:cNvPr id="1" name=""/>
        <p:cNvGrpSpPr/>
        <p:nvPr/>
      </p:nvGrpSpPr>
      <p:grpSpPr>
        <a:xfrm>
          <a:off x="0" y="0"/>
          <a:ext cx="0" cy="0"/>
          <a:chOff x="0" y="0"/>
          <a:chExt cx="0" cy="0"/>
        </a:xfrm>
      </p:grpSpPr>
      <p:sp>
        <p:nvSpPr>
          <p:cNvPr id="2" name="Text 0"/>
          <p:cNvSpPr/>
          <p:nvPr/>
        </p:nvSpPr>
        <p:spPr>
          <a:xfrm>
            <a:off x="812800" y="237361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E8742C"/>
                </a:solidFill>
                <a:latin typeface="Prompt" pitchFamily="34" charset="0"/>
                <a:ea typeface="Prompt" pitchFamily="34" charset="-122"/>
                <a:cs typeface="Prompt" pitchFamily="34" charset="-120"/>
              </a:rPr>
              <a:t>03</a:t>
            </a:r>
            <a:endParaRPr lang="en-US" sz="6000" dirty="0"/>
          </a:p>
        </p:txBody>
      </p:sp>
      <p:sp>
        <p:nvSpPr>
          <p:cNvPr id="3" name="Text 1"/>
          <p:cNvSpPr/>
          <p:nvPr>
            <p:ph type="title"/>
          </p:nvPr>
        </p:nvSpPr>
        <p:spPr>
          <a:xfrm>
            <a:off x="812800" y="335151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Prompt" pitchFamily="34" charset="0"/>
                <a:ea typeface="Prompt" pitchFamily="34" charset="-122"/>
                <a:cs typeface="Prompt" pitchFamily="34" charset="-120"/>
              </a:rPr>
              <a:t>วิธีทดสอบ</a:t>
            </a:r>
            <a:endParaRPr lang="en-US" sz="4800" dirty="0"/>
          </a:p>
        </p:txBody>
      </p:sp>
      <p:sp>
        <p:nvSpPr>
          <p:cNvPr id="4" name="Text 2"/>
          <p:cNvSpPr/>
          <p:nvPr/>
        </p:nvSpPr>
        <p:spPr>
          <a:xfrm>
            <a:off x="812800" y="41998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D8"/>
                </a:solidFill>
                <a:latin typeface="Sarabun" pitchFamily="34" charset="0"/>
                <a:ea typeface="Sarabun" pitchFamily="34" charset="-122"/>
                <a:cs typeface="Sarabun" pitchFamily="34" charset="-120"/>
              </a:rPr>
              <a:t>เช็คลิสต์ A–H ทีละขั้น พร้อมผลที่ควรได้</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วิธีทดสอบ</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เตรียมก่อนเริ่ม</a:t>
            </a:r>
            <a:endParaRPr lang="en-US" sz="3200" dirty="0"/>
          </a:p>
        </p:txBody>
      </p:sp>
      <p:pic>
        <p:nvPicPr>
          <p:cNvPr id="4" name="Image 0" descr="CheckCircle">    </p:cNvPr>
          <p:cNvPicPr>
            <a:picLocks noChangeAspect="1"/>
          </p:cNvPicPr>
          <p:nvPr/>
        </p:nvPicPr>
        <p:blipFill>
          <a:blip r:embed="rId1"/>
          <a:srcRect l="0" r="0" t="0" b="0"/>
          <a:stretch/>
        </p:blipFill>
        <p:spPr>
          <a:xfrm>
            <a:off x="812800" y="1849041"/>
            <a:ext cx="304800" cy="304800"/>
          </a:xfrm>
          <a:prstGeom prst="rect">
            <a:avLst/>
          </a:prstGeom>
        </p:spPr>
      </p:pic>
      <p:sp>
        <p:nvSpPr>
          <p:cNvPr id="5" name="Text 2"/>
          <p:cNvSpPr/>
          <p:nvPr/>
        </p:nvSpPr>
        <p:spPr>
          <a:xfrm>
            <a:off x="1270000" y="1864320"/>
            <a:ext cx="1041247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23A"/>
                </a:solidFill>
                <a:latin typeface="Sarabun" pitchFamily="34" charset="0"/>
                <a:ea typeface="Sarabun" pitchFamily="34" charset="-122"/>
                <a:cs typeface="Sarabun" pitchFamily="34" charset="-120"/>
              </a:rPr>
              <a:t>เปิด Plane ที่ </a:t>
            </a:r>
            <a:r>
              <a:rPr lang="en-US" sz="1600" b="1" dirty="0">
                <a:solidFill>
                  <a:srgbClr val="16223A"/>
                </a:solidFill>
                <a:latin typeface="Sarabun" pitchFamily="34" charset="0"/>
                <a:ea typeface="Sarabun" pitchFamily="34" charset="-122"/>
                <a:cs typeface="Sarabun" pitchFamily="34" charset="-120"/>
              </a:rPr>
              <a:t>http://localhost:3010</a:t>
            </a:r>
            <a:endParaRPr lang="en-US" sz="1600" dirty="0"/>
          </a:p>
        </p:txBody>
      </p:sp>
      <p:pic>
        <p:nvPicPr>
          <p:cNvPr id="6" name="Image 1" descr="CheckCircle">    </p:cNvPr>
          <p:cNvPicPr>
            <a:picLocks noChangeAspect="1"/>
          </p:cNvPicPr>
          <p:nvPr/>
        </p:nvPicPr>
        <p:blipFill>
          <a:blip r:embed="rId2"/>
          <a:srcRect l="0" r="0" t="0" b="0"/>
          <a:stretch/>
        </p:blipFill>
        <p:spPr>
          <a:xfrm>
            <a:off x="812800" y="2293541"/>
            <a:ext cx="304800" cy="304800"/>
          </a:xfrm>
          <a:prstGeom prst="rect">
            <a:avLst/>
          </a:prstGeom>
        </p:spPr>
      </p:pic>
      <p:sp>
        <p:nvSpPr>
          <p:cNvPr id="7" name="Text 3"/>
          <p:cNvSpPr/>
          <p:nvPr/>
        </p:nvSpPr>
        <p:spPr>
          <a:xfrm>
            <a:off x="1270000" y="2308820"/>
            <a:ext cx="1041247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23A"/>
                </a:solidFill>
                <a:latin typeface="Sarabun" pitchFamily="34" charset="0"/>
                <a:ea typeface="Sarabun" pitchFamily="34" charset="-122"/>
                <a:cs typeface="Sarabun" pitchFamily="34" charset="-120"/>
              </a:rPr>
              <a:t>เปิด Hub ครบ: API, Worker, Scheduler และ Discord Bot</a:t>
            </a:r>
            <a:endParaRPr lang="en-US" sz="1600" dirty="0"/>
          </a:p>
        </p:txBody>
      </p:sp>
      <p:pic>
        <p:nvPicPr>
          <p:cNvPr id="8" name="Image 2" descr="CheckCircle">    </p:cNvPr>
          <p:cNvPicPr>
            <a:picLocks noChangeAspect="1"/>
          </p:cNvPicPr>
          <p:nvPr/>
        </p:nvPicPr>
        <p:blipFill>
          <a:blip r:embed="rId3"/>
          <a:srcRect l="0" r="0" t="0" b="0"/>
          <a:stretch/>
        </p:blipFill>
        <p:spPr>
          <a:xfrm>
            <a:off x="812800" y="2738041"/>
            <a:ext cx="304800" cy="304800"/>
          </a:xfrm>
          <a:prstGeom prst="rect">
            <a:avLst/>
          </a:prstGeom>
        </p:spPr>
      </p:pic>
      <p:sp>
        <p:nvSpPr>
          <p:cNvPr id="9" name="Text 4"/>
          <p:cNvSpPr/>
          <p:nvPr/>
        </p:nvSpPr>
        <p:spPr>
          <a:xfrm>
            <a:off x="1270000" y="2753320"/>
            <a:ext cx="1041247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23A"/>
                </a:solidFill>
                <a:latin typeface="Sarabun" pitchFamily="34" charset="0"/>
                <a:ea typeface="Sarabun" pitchFamily="34" charset="-122"/>
                <a:cs typeface="Sarabun" pitchFamily="34" charset="-120"/>
              </a:rPr>
              <a:t>เปิด ngrok เพื่อให้ LINE ส่ง webhook เข้ามาได้</a:t>
            </a:r>
            <a:endParaRPr lang="en-US" sz="1600" dirty="0"/>
          </a:p>
        </p:txBody>
      </p:sp>
      <p:pic>
        <p:nvPicPr>
          <p:cNvPr id="10" name="Image 3" descr="CheckCircle">    </p:cNvPr>
          <p:cNvPicPr>
            <a:picLocks noChangeAspect="1"/>
          </p:cNvPicPr>
          <p:nvPr/>
        </p:nvPicPr>
        <p:blipFill>
          <a:blip r:embed="rId4"/>
          <a:srcRect l="0" r="0" t="0" b="0"/>
          <a:stretch/>
        </p:blipFill>
        <p:spPr>
          <a:xfrm>
            <a:off x="812800" y="3182541"/>
            <a:ext cx="304800" cy="304800"/>
          </a:xfrm>
          <a:prstGeom prst="rect">
            <a:avLst/>
          </a:prstGeom>
        </p:spPr>
      </p:pic>
      <p:sp>
        <p:nvSpPr>
          <p:cNvPr id="11" name="Text 5"/>
          <p:cNvSpPr/>
          <p:nvPr/>
        </p:nvSpPr>
        <p:spPr>
          <a:xfrm>
            <a:off x="1270000" y="3197820"/>
            <a:ext cx="1041247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23A"/>
                </a:solidFill>
                <a:latin typeface="Sarabun" pitchFamily="34" charset="0"/>
                <a:ea typeface="Sarabun" pitchFamily="34" charset="-122"/>
                <a:cs typeface="Sarabun" pitchFamily="34" charset="-120"/>
              </a:rPr>
              <a:t>สร้าง Label ใน Project PROM 3–4 อัน เช่น Bug, Backend, Frontend</a:t>
            </a:r>
            <a:endParaRPr lang="en-US" sz="1600" dirty="0"/>
          </a:p>
        </p:txBody>
      </p:sp>
      <p:pic>
        <p:nvPicPr>
          <p:cNvPr id="12" name="Image 4" descr="CheckCircle">    </p:cNvPr>
          <p:cNvPicPr>
            <a:picLocks noChangeAspect="1"/>
          </p:cNvPicPr>
          <p:nvPr/>
        </p:nvPicPr>
        <p:blipFill>
          <a:blip r:embed="rId5"/>
          <a:srcRect l="0" r="0" t="0" b="0"/>
          <a:stretch/>
        </p:blipFill>
        <p:spPr>
          <a:xfrm>
            <a:off x="812800" y="3627041"/>
            <a:ext cx="304800" cy="304800"/>
          </a:xfrm>
          <a:prstGeom prst="rect">
            <a:avLst/>
          </a:prstGeom>
        </p:spPr>
      </p:pic>
      <p:sp>
        <p:nvSpPr>
          <p:cNvPr id="13" name="Text 6"/>
          <p:cNvSpPr/>
          <p:nvPr/>
        </p:nvSpPr>
        <p:spPr>
          <a:xfrm>
            <a:off x="1270000" y="3642320"/>
            <a:ext cx="1041247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23A"/>
                </a:solidFill>
                <a:latin typeface="Sarabun" pitchFamily="34" charset="0"/>
                <a:ea typeface="Sarabun" pitchFamily="34" charset="-122"/>
                <a:cs typeface="Sarabun" pitchFamily="34" charset="-120"/>
              </a:rPr>
              <a:t>ใช้บัญชีที่เป็น Admin ของ Workspace</a:t>
            </a:r>
            <a:endParaRPr lang="en-US" sz="1600" dirty="0"/>
          </a:p>
        </p:txBody>
      </p:sp>
      <p:pic>
        <p:nvPicPr>
          <p:cNvPr id="14" name="Image 5" descr="CheckCircle">    </p:cNvPr>
          <p:cNvPicPr>
            <a:picLocks noChangeAspect="1"/>
          </p:cNvPicPr>
          <p:nvPr/>
        </p:nvPicPr>
        <p:blipFill>
          <a:blip r:embed="rId6"/>
          <a:srcRect l="0" r="0" t="0" b="0"/>
          <a:stretch/>
        </p:blipFill>
        <p:spPr>
          <a:xfrm>
            <a:off x="812800" y="4071541"/>
            <a:ext cx="304800" cy="304800"/>
          </a:xfrm>
          <a:prstGeom prst="rect">
            <a:avLst/>
          </a:prstGeom>
        </p:spPr>
      </p:pic>
      <p:sp>
        <p:nvSpPr>
          <p:cNvPr id="15" name="Text 7"/>
          <p:cNvSpPr/>
          <p:nvPr/>
        </p:nvSpPr>
        <p:spPr>
          <a:xfrm>
            <a:off x="1270000" y="4086820"/>
            <a:ext cx="1041247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6223A"/>
                </a:solidFill>
                <a:latin typeface="Sarabun" pitchFamily="34" charset="0"/>
                <a:ea typeface="Sarabun" pitchFamily="34" charset="-122"/>
                <a:cs typeface="Sarabun" pitchFamily="34" charset="-120"/>
              </a:rPr>
              <a:t>เปิดให้ LINE OA เข้ากลุ่มได้ (สำหรับเทส G)</a:t>
            </a:r>
            <a:endParaRPr lang="en-US" sz="16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วิธีทดสอบ · A และ B</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การเชื่อมต่อ และผูกบัญชี</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3592711"/>
        </p:xfrm>
        <a:graphic>
          <a:graphicData uri="http://schemas.openxmlformats.org/drawingml/2006/table">
            <a:tbl>
              <a:tblPr/>
              <a:tblGrid>
                <a:gridCol w="844296"/>
                <a:gridCol w="5276850"/>
                <a:gridCol w="4432554"/>
              </a:tblGrid>
              <a:tr h="359271">
                <a:tc>
                  <a:txBody>
                    <a:bodyPr/>
                    <a:lstStyle/>
                    <a:p>
                      <a:pPr indent="0" marL="0">
                        <a:lnSpc>
                          <a:spcPts val="1820"/>
                        </a:lnSpc>
                        <a:buNone/>
                      </a:pPr>
                      <a:r>
                        <a:rPr lang="en-US" sz="1300" b="1" dirty="0">
                          <a:solidFill>
                            <a:srgbClr val="F6F5F0"/>
                          </a:solidFill>
                          <a:latin typeface="Sarabun" pitchFamily="34" charset="0"/>
                          <a:ea typeface="Sarabun" pitchFamily="34" charset="-122"/>
                          <a:cs typeface="Sarabun" pitchFamily="34" charset="-120"/>
                        </a:rPr>
                        <a:t>#</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820"/>
                        </a:lnSpc>
                        <a:buNone/>
                      </a:pPr>
                      <a:r>
                        <a:rPr lang="en-US" sz="1300" b="1" dirty="0">
                          <a:solidFill>
                            <a:srgbClr val="F6F5F0"/>
                          </a:solidFill>
                          <a:latin typeface="Sarabun" pitchFamily="34" charset="0"/>
                          <a:ea typeface="Sarabun" pitchFamily="34" charset="-122"/>
                          <a:cs typeface="Sarabun" pitchFamily="34" charset="-120"/>
                        </a:rPr>
                        <a:t>ขั้นตอน</a:t>
                      </a:r>
                      <a:endParaRPr lang="en-US" sz="1300" dirty="0">
                        <a:latin typeface="Sarabun" charset="0"/>
                        <a:ea typeface="Sarabun" charset="0"/>
                        <a:cs typeface="Sarabun" charset="0"/>
                      </a:endParaRPr>
                    </a:p>
                  </a:txBody>
                  <a:tcPr marL="57785" marR="57785" marT="57785" marB="57785"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820"/>
                        </a:lnSpc>
                        <a:buNone/>
                      </a:pPr>
                      <a:r>
                        <a:rPr lang="en-US" sz="1300" b="1" dirty="0">
                          <a:solidFill>
                            <a:srgbClr val="F6F5F0"/>
                          </a:solidFill>
                          <a:latin typeface="Sarabun" pitchFamily="34" charset="0"/>
                          <a:ea typeface="Sarabun" pitchFamily="34" charset="-122"/>
                          <a:cs typeface="Sarabun" pitchFamily="34" charset="-120"/>
                        </a:rPr>
                        <a:t>ผลที่ควรได้</a:t>
                      </a:r>
                      <a:endParaRPr lang="en-US" sz="1300" dirty="0">
                        <a:latin typeface="Sarabun" charset="0"/>
                        <a:ea typeface="Sarabun" charset="0"/>
                        <a:cs typeface="Sarabun" charset="0"/>
                      </a:endParaRPr>
                    </a:p>
                  </a:txBody>
                  <a:tcPr marL="57785" marR="57785" marT="57785" marB="57785"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A1</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Integrations → สร้าง LINE → Test connection</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ขึ้นว่าผ่าน</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A2</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ใส่ token ผิด แล้วกด Test</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ขึ้น error 401</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A3</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Link workspace → ใส่ Webhook URL ใน LINE → Verify</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Success</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A4</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สร้าง Discord → รีสตาร์ท bot</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บอทออนไลน์ใน Discord</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A5</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AI Assistant → ใส่ key → Test connection</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ขึ้นรายชื่อโมเดล และผ่าน</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B1</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Connected Accounts → Connect</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ได้รหัส 6 หลัก</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B2</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ส่งรหัสให้บอท LINE</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“ผูกบัญชีสำเร็จ” บัญชีขึ้นในเว็บ</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B3</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ส่งรหัสเดิมซ้ำ หรือรหัสที่เกิน 10 นาที</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แจ้งว่ารหัสไม่ถูกต้อง / หมดอายุ</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B4</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ทำซ้ำกับ Discord (DM บอท)</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ผูกสำเร็จ</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วิธีทดสอบ · C</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ใช้งานพื้นฐาน</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2315766"/>
        </p:xfrm>
        <a:graphic>
          <a:graphicData uri="http://schemas.openxmlformats.org/drawingml/2006/table">
            <a:tbl>
              <a:tblPr/>
              <a:tblGrid>
                <a:gridCol w="844296"/>
                <a:gridCol w="5276850"/>
                <a:gridCol w="4432554"/>
              </a:tblGrid>
              <a:tr h="385961">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ขั้นตอน</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960"/>
                        </a:lnSpc>
                        <a:buNone/>
                      </a:pPr>
                      <a:r>
                        <a:rPr lang="en-US" sz="1400" b="1" dirty="0">
                          <a:solidFill>
                            <a:srgbClr val="F6F5F0"/>
                          </a:solidFill>
                          <a:latin typeface="Sarabun" pitchFamily="34" charset="0"/>
                          <a:ea typeface="Sarabun" pitchFamily="34" charset="-122"/>
                          <a:cs typeface="Sarabun" pitchFamily="34" charset="-120"/>
                        </a:rPr>
                        <a:t>ผลที่ควรได้</a:t>
                      </a:r>
                      <a:endParaRPr lang="en-US" sz="1400" dirty="0">
                        <a:latin typeface="Sarabun" charset="0"/>
                        <a:ea typeface="Sarabun" charset="0"/>
                        <a:cs typeface="Sarabun" charset="0"/>
                      </a:endParaRPr>
                    </a:p>
                  </a:txBody>
                  <a:tcPr marL="62230" marR="62230" marT="62230" marB="6223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C1</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พิมพ์ “เมนู”</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ได้ปุ่มเมนู</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C2</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สร้างงานผ่านปุ่มจนจบ</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งานขึ้นใน Plane</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C3</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“งานของฉัน”</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เห็นรายการงาน</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C4</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อัปเดต → เปลี่ยนสถานะ</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Plane เปลี่ยนตาม</a:t>
                      </a:r>
                      <a:endParaRPr lang="en-US" sz="1400" dirty="0">
                        <a:latin typeface="Sarabun" charset="0"/>
                        <a:ea typeface="Sarabun" charset="0"/>
                        <a:cs typeface="Sarabun" charset="0"/>
                      </a:endParaRPr>
                    </a:p>
                  </a:txBody>
                  <a:tcPr marL="62230" marR="62230" marT="62230" marB="6223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85961">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C5</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ใน Plane มอบหมายงานให้ตัวเอง</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23A"/>
                          </a:solidFill>
                          <a:latin typeface="Sarabun" pitchFamily="34" charset="0"/>
                          <a:ea typeface="Sarabun" pitchFamily="34" charset="-122"/>
                          <a:cs typeface="Sarabun" pitchFamily="34" charset="-120"/>
                        </a:rPr>
                        <a:t>ได้แจ้งเตือนในแชท ภายในประมาณ 1 นาที</a:t>
                      </a:r>
                      <a:endParaRPr lang="en-US" sz="1400" dirty="0">
                        <a:latin typeface="Sarabun" charset="0"/>
                        <a:ea typeface="Sarabun" charset="0"/>
                        <a:cs typeface="Sarabun"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304506"/>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Sarabun" pitchFamily="34" charset="0"/>
                <a:ea typeface="Sarabun" pitchFamily="34" charset="-122"/>
                <a:cs typeface="Sarabun" pitchFamily="34" charset="-120"/>
              </a:rPr>
              <a:t>C5 ช้ากว่าปกติเล็กน้อย เพราะระบบรอรวมการแก้ไขในงานเดียวกัน 45 วินาที</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“task นี้” = งานล่าสุดที่เปิดดูหรือแตะ (จำไว้ 30 นาที)</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25</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วิธีทดสอบ · D (ฟีเจอร์ 1, 3, 6, 7)</a:t>
            </a:r>
            <a:endParaRPr lang="en-US" sz="1200" dirty="0"/>
          </a:p>
        </p:txBody>
      </p:sp>
      <p:sp>
        <p:nvSpPr>
          <p:cNvPr id="5" name="Text 3"/>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สั่งงานด้วย AI</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3658394"/>
        </p:xfrm>
        <a:graphic>
          <a:graphicData uri="http://schemas.openxmlformats.org/drawingml/2006/table">
            <a:tbl>
              <a:tblPr/>
              <a:tblGrid>
                <a:gridCol w="738759"/>
                <a:gridCol w="4749165"/>
                <a:gridCol w="5065776"/>
              </a:tblGrid>
              <a:tr h="332581">
                <a:tc>
                  <a:txBody>
                    <a:bodyPr/>
                    <a:lstStyle/>
                    <a:p>
                      <a:pPr indent="0" marL="0">
                        <a:lnSpc>
                          <a:spcPts val="1680"/>
                        </a:lnSpc>
                        <a:buNone/>
                      </a:pPr>
                      <a:r>
                        <a:rPr lang="en-US" sz="1200" b="1" dirty="0">
                          <a:solidFill>
                            <a:srgbClr val="F6F5F0"/>
                          </a:solidFill>
                          <a:latin typeface="Sarabun" pitchFamily="34" charset="0"/>
                          <a:ea typeface="Sarabun" pitchFamily="34" charset="-122"/>
                          <a:cs typeface="Sarabun" pitchFamily="34" charset="-120"/>
                        </a:rPr>
                        <a:t>#</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680"/>
                        </a:lnSpc>
                        <a:buNone/>
                      </a:pPr>
                      <a:r>
                        <a:rPr lang="en-US" sz="1200" b="1" dirty="0">
                          <a:solidFill>
                            <a:srgbClr val="F6F5F0"/>
                          </a:solidFill>
                          <a:latin typeface="Sarabun" pitchFamily="34" charset="0"/>
                          <a:ea typeface="Sarabun" pitchFamily="34" charset="-122"/>
                          <a:cs typeface="Sarabun" pitchFamily="34" charset="-120"/>
                        </a:rPr>
                        <a:t>พิมพ์</a:t>
                      </a:r>
                      <a:endParaRPr lang="en-US" sz="1200" dirty="0">
                        <a:latin typeface="Sarabun" charset="0"/>
                        <a:ea typeface="Sarabun" charset="0"/>
                        <a:cs typeface="Sarabun" charset="0"/>
                      </a:endParaRPr>
                    </a:p>
                  </a:txBody>
                  <a:tcPr marL="53340" marR="53340" marT="53340" marB="5334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680"/>
                        </a:lnSpc>
                        <a:buNone/>
                      </a:pPr>
                      <a:r>
                        <a:rPr lang="en-US" sz="1200" b="1" dirty="0">
                          <a:solidFill>
                            <a:srgbClr val="F6F5F0"/>
                          </a:solidFill>
                          <a:latin typeface="Sarabun" pitchFamily="34" charset="0"/>
                          <a:ea typeface="Sarabun" pitchFamily="34" charset="-122"/>
                          <a:cs typeface="Sarabun" pitchFamily="34" charset="-120"/>
                        </a:rPr>
                        <a:t>ผลที่ควรได้</a:t>
                      </a:r>
                      <a:endParaRPr lang="en-US" sz="1200" dirty="0">
                        <a:latin typeface="Sarabun" charset="0"/>
                        <a:ea typeface="Sarabun" charset="0"/>
                        <a:cs typeface="Sarabun" charset="0"/>
                      </a:endParaRPr>
                    </a:p>
                  </a:txBody>
                  <a:tcPr marL="53340" marR="53340" marT="53340" marB="5334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D1</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“สร้างงานแก้หน้า login ส่งวันศุกร์ ด่วน”</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ยืนยัน: วันศุกร์ถูกต้อง Priority ด่วน → งานขึ้นใน Plane</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D2</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“create task update docs for Nok tomorrow”</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เข้าใจภาษาอังกฤษ ผู้รับผิดชอบ Nok</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D3</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“งานของฉันวันนี้”</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งานที่ครบกำหนดวันนี้</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D4</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“งาน overdue”</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งานที่เลยกำหนด</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D5</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“หางานเรื่อง API”</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ผลการค้นหา</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D6</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(หลัง D3) “เลื่อน deadline อีก 2 วัน”</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ยืนยันวันใหม่ → Plane เปลี่ยนตาม</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D7</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“assign task นี้ให้ Nok”</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ยืนยัน → เปลี่ยนผู้รับผิดชอบ</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D8</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“task API Gateway เสร็จแล้ว”</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ยืนยัน → สถานะเป็น Done</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D9</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กด “ยกเลิก” ที่หน้ายืนยัน</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ไม่มีอะไรเปลี่ยนใน Plane</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D10</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ปิด AI ใน Settings แล้วพิมพ์ข้อความอิสระ</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ได้เมนูปกติแทน</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วิธีทดสอบ · E (ฟีเจอร์ 4, 5) และ F (ฟีเจอร์ 8)</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สรุปงาน แจ้งเตือน และ Auto-tagging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3233440"/>
        </p:xfrm>
        <a:graphic>
          <a:graphicData uri="http://schemas.openxmlformats.org/drawingml/2006/table">
            <a:tbl>
              <a:tblPr/>
              <a:tblGrid>
                <a:gridCol w="844296"/>
                <a:gridCol w="5276850"/>
                <a:gridCol w="4432554"/>
              </a:tblGrid>
              <a:tr h="359271">
                <a:tc>
                  <a:txBody>
                    <a:bodyPr/>
                    <a:lstStyle/>
                    <a:p>
                      <a:pPr indent="0" marL="0">
                        <a:lnSpc>
                          <a:spcPts val="1820"/>
                        </a:lnSpc>
                        <a:buNone/>
                      </a:pPr>
                      <a:r>
                        <a:rPr lang="en-US" sz="1300" b="1" dirty="0">
                          <a:solidFill>
                            <a:srgbClr val="F6F5F0"/>
                          </a:solidFill>
                          <a:latin typeface="Sarabun" pitchFamily="34" charset="0"/>
                          <a:ea typeface="Sarabun" pitchFamily="34" charset="-122"/>
                          <a:cs typeface="Sarabun" pitchFamily="34" charset="-120"/>
                        </a:rPr>
                        <a:t>#</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820"/>
                        </a:lnSpc>
                        <a:buNone/>
                      </a:pPr>
                      <a:r>
                        <a:rPr lang="en-US" sz="1300" b="1" dirty="0">
                          <a:solidFill>
                            <a:srgbClr val="F6F5F0"/>
                          </a:solidFill>
                          <a:latin typeface="Sarabun" pitchFamily="34" charset="0"/>
                          <a:ea typeface="Sarabun" pitchFamily="34" charset="-122"/>
                          <a:cs typeface="Sarabun" pitchFamily="34" charset="-120"/>
                        </a:rPr>
                        <a:t>ขั้นตอน</a:t>
                      </a:r>
                      <a:endParaRPr lang="en-US" sz="1300" dirty="0">
                        <a:latin typeface="Sarabun" charset="0"/>
                        <a:ea typeface="Sarabun" charset="0"/>
                        <a:cs typeface="Sarabun" charset="0"/>
                      </a:endParaRPr>
                    </a:p>
                  </a:txBody>
                  <a:tcPr marL="57785" marR="57785" marT="57785" marB="57785"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820"/>
                        </a:lnSpc>
                        <a:buNone/>
                      </a:pPr>
                      <a:r>
                        <a:rPr lang="en-US" sz="1300" b="1" dirty="0">
                          <a:solidFill>
                            <a:srgbClr val="F6F5F0"/>
                          </a:solidFill>
                          <a:latin typeface="Sarabun" pitchFamily="34" charset="0"/>
                          <a:ea typeface="Sarabun" pitchFamily="34" charset="-122"/>
                          <a:cs typeface="Sarabun" pitchFamily="34" charset="-120"/>
                        </a:rPr>
                        <a:t>ผลที่ควรได้</a:t>
                      </a:r>
                      <a:endParaRPr lang="en-US" sz="1300" dirty="0">
                        <a:latin typeface="Sarabun" charset="0"/>
                        <a:ea typeface="Sarabun" charset="0"/>
                        <a:cs typeface="Sarabun" charset="0"/>
                      </a:endParaRPr>
                    </a:p>
                  </a:txBody>
                  <a:tcPr marL="57785" marR="57785" marT="57785" marB="57785"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E1</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พิมพ์ “สรุปงาน” หรือ “สรุปงานให้หน่อย”</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สรุปแยกหมวด 5 หมวด</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E2</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“ตั้งค่าแจ้งเตือน” → ปิด “มอบหมายงาน”</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ปุ่มเปลี่ยนเป็นปิด</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E3</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ใน Plane มอบหมายงานให้ตัวเอง</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ไม่ได้แจ้งเตือน</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E4</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Connected Accounts → Notifications</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ค่าตรงกับที่ตั้งในแชท</a:t>
                      </a:r>
                      <a:endParaRPr lang="en-US" sz="1300" dirty="0">
                        <a:latin typeface="Sarabun" charset="0"/>
                        <a:ea typeface="Sarabun" charset="0"/>
                        <a:cs typeface="Sarabun" charset="0"/>
                      </a:endParaRPr>
                    </a:p>
                  </a:txBody>
                  <a:tcPr marL="57785" marR="57785" marT="57785" marB="57785"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F1</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ตั้งกฎ “bug” → Label Bug, Priority High</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บันทึกได้</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F2</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สร้างงาน “แก้ bug หน้า login”</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Label Bug, High (จากกฎ)</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F3</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สร้างงาน “ทำ API ชำระเงิน” (ไม่ตรงกฎ)</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AI แนะนำ Label เช่น Backend</a:t>
                      </a:r>
                      <a:endParaRPr lang="en-US" sz="1300" dirty="0">
                        <a:latin typeface="Sarabun" charset="0"/>
                        <a:ea typeface="Sarabun" charset="0"/>
                        <a:cs typeface="Sarabun" charset="0"/>
                      </a:endParaRPr>
                    </a:p>
                  </a:txBody>
                  <a:tcPr marL="57785" marR="57785" marT="57785" marB="57785"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r>
              <a:tr h="359271">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F4</a:t>
                      </a:r>
                      <a:endParaRPr lang="en-US" sz="1300" dirty="0">
                        <a:latin typeface="Sarabun" charset="0"/>
                        <a:ea typeface="Sarabun" charset="0"/>
                        <a:cs typeface="Sarabun"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กด “ยืนยัน (ไม่ใส่ tag)”</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820"/>
                        </a:lnSpc>
                        <a:buNone/>
                      </a:pPr>
                      <a:r>
                        <a:rPr lang="en-US" sz="1300" dirty="0">
                          <a:solidFill>
                            <a:srgbClr val="16223A"/>
                          </a:solidFill>
                          <a:latin typeface="Sarabun" pitchFamily="34" charset="0"/>
                          <a:ea typeface="Sarabun" pitchFamily="34" charset="-122"/>
                          <a:cs typeface="Sarabun" pitchFamily="34" charset="-120"/>
                        </a:rPr>
                        <a:t>งานถูกสร้างโดยไม่มี Label</a:t>
                      </a:r>
                      <a:endParaRPr lang="en-US" sz="1300" dirty="0">
                        <a:latin typeface="Sarabun" charset="0"/>
                        <a:ea typeface="Sarabun" charset="0"/>
                        <a:cs typeface="Sarabun" charset="0"/>
                      </a:endParaRPr>
                    </a:p>
                  </a:txBody>
                  <a:tcPr marL="57785" marR="57785" marT="57785" marB="57785"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r>
            </a:tbl>
          </a:graphicData>
        </a:graphic>
      </p:graphicFrame>
      <p:sp>
        <p:nvSpPr>
          <p:cNvPr id="5"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5 หมวด: เลยกำหนด · ครบวันนี้ · ครบพรุ่งนี้ · งานใหม่ · ถูกบล็อก</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วิธีทดสอบ · G (ฟีเจอร์ 9) และ H (ฟีเจอร์ 10)</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กลุ่ม และ Timeline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3658394"/>
        </p:xfrm>
        <a:graphic>
          <a:graphicData uri="http://schemas.openxmlformats.org/drawingml/2006/table">
            <a:tbl>
              <a:tblPr/>
              <a:tblGrid>
                <a:gridCol w="844296"/>
                <a:gridCol w="5276850"/>
                <a:gridCol w="4432554"/>
              </a:tblGrid>
              <a:tr h="332581">
                <a:tc>
                  <a:txBody>
                    <a:bodyPr/>
                    <a:lstStyle/>
                    <a:p>
                      <a:pPr indent="0" marL="0">
                        <a:lnSpc>
                          <a:spcPts val="1680"/>
                        </a:lnSpc>
                        <a:buNone/>
                      </a:pPr>
                      <a:r>
                        <a:rPr lang="en-US" sz="1200" b="1" dirty="0">
                          <a:solidFill>
                            <a:srgbClr val="F6F5F0"/>
                          </a:solidFill>
                          <a:latin typeface="Sarabun" pitchFamily="34" charset="0"/>
                          <a:ea typeface="Sarabun" pitchFamily="34" charset="-122"/>
                          <a:cs typeface="Sarabun" pitchFamily="34" charset="-120"/>
                        </a:rPr>
                        <a:t>#</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680"/>
                        </a:lnSpc>
                        <a:buNone/>
                      </a:pPr>
                      <a:r>
                        <a:rPr lang="en-US" sz="1200" b="1" dirty="0">
                          <a:solidFill>
                            <a:srgbClr val="F6F5F0"/>
                          </a:solidFill>
                          <a:latin typeface="Sarabun" pitchFamily="34" charset="0"/>
                          <a:ea typeface="Sarabun" pitchFamily="34" charset="-122"/>
                          <a:cs typeface="Sarabun" pitchFamily="34" charset="-120"/>
                        </a:rPr>
                        <a:t>ขั้นตอน</a:t>
                      </a:r>
                      <a:endParaRPr lang="en-US" sz="1200" dirty="0">
                        <a:latin typeface="Sarabun" charset="0"/>
                        <a:ea typeface="Sarabun" charset="0"/>
                        <a:cs typeface="Sarabun" charset="0"/>
                      </a:endParaRPr>
                    </a:p>
                  </a:txBody>
                  <a:tcPr marL="53340" marR="53340" marT="53340" marB="5334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c>
                  <a:txBody>
                    <a:bodyPr/>
                    <a:lstStyle/>
                    <a:p>
                      <a:pPr indent="0" marL="0">
                        <a:lnSpc>
                          <a:spcPts val="1680"/>
                        </a:lnSpc>
                        <a:buNone/>
                      </a:pPr>
                      <a:r>
                        <a:rPr lang="en-US" sz="1200" b="1" dirty="0">
                          <a:solidFill>
                            <a:srgbClr val="F6F5F0"/>
                          </a:solidFill>
                          <a:latin typeface="Sarabun" pitchFamily="34" charset="0"/>
                          <a:ea typeface="Sarabun" pitchFamily="34" charset="-122"/>
                          <a:cs typeface="Sarabun" pitchFamily="34" charset="-120"/>
                        </a:rPr>
                        <a:t>ผลที่ควรได้</a:t>
                      </a:r>
                      <a:endParaRPr lang="en-US" sz="1200" dirty="0">
                        <a:latin typeface="Sarabun" charset="0"/>
                        <a:ea typeface="Sarabun" charset="0"/>
                        <a:cs typeface="Sarabun" charset="0"/>
                      </a:endParaRPr>
                    </a:p>
                  </a:txBody>
                  <a:tcPr marL="53340" marR="53340" marT="53340" marB="53340" anchor="t">
                    <a:lnL w="12700" cap="flat" cmpd="sng" algn="ctr">
                      <a:solidFill>
                        <a:srgbClr val="161F31"/>
                      </a:solidFill>
                      <a:prstDash val="solid"/>
                      <a:round/>
                      <a:headEnd type="none" w="med" len="med"/>
                      <a:tailEnd type="none" w="med" len="med"/>
                    </a:lnL>
                    <a:lnR w="12700" cap="flat" cmpd="sng" algn="ctr">
                      <a:solidFill>
                        <a:srgbClr val="161F3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61F31"/>
                      </a:solidFill>
                      <a:prstDash val="solid"/>
                      <a:round/>
                      <a:headEnd type="none" w="med" len="med"/>
                      <a:tailEnd type="none" w="med" len="med"/>
                    </a:lnB>
                    <a:solidFill>
                      <a:srgbClr val="16223A"/>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G1</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เชิญบอทเข้ากลุ่ม LINE</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บอททักทาย และบอกวิธีผูกกลุ่ม</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61F3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G2</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พิมพ์ “สวัสดี” ในกลุ่ม</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บอทไม่ตอบ</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G3</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“ผูกกลุ่ม” → เลือก PROM</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“ผูกกลุ่มนี้กับ Project … แล้ว”</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G4</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“ตั้งค่ากลุ่ม” → เปิด “งานใหม่”</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เปิดแล้ว</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G5</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สร้างงานใน Plane แล้วปิดงาน</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กลุ่มได้ 🆕 และ ✅</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G6</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คนที่ยังไม่ผูกบัญชีพิมพ์ “ผูกกลุ่ม”</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แจ้งว่าต้องผูกบัญชีก่อน</a:t>
                      </a:r>
                      <a:endParaRPr lang="en-US" sz="1200" dirty="0">
                        <a:latin typeface="Sarabun" charset="0"/>
                        <a:ea typeface="Sarabun" charset="0"/>
                        <a:cs typeface="Sarabun" charset="0"/>
                      </a:endParaRPr>
                    </a:p>
                  </a:txBody>
                  <a:tcPr marL="53340" marR="53340" marT="53340" marB="53340" anchor="t">
                    <a:lnL w="12700" cap="flat" cmpd="sng" algn="ctr">
                      <a:solidFill>
                        <a:srgbClr val="BEBDB8"/>
                      </a:solidFill>
                      <a:prstDash val="solid"/>
                      <a:round/>
                      <a:headEnd type="none" w="med" len="med"/>
                      <a:tailEnd type="none" w="med" len="med"/>
                    </a:lnL>
                    <a:lnR w="12700" cap="flat" cmpd="sng" algn="ctr">
                      <a:solidFill>
                        <a:srgbClr val="BEBDB8"/>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EBDB8"/>
                      </a:solidFill>
                      <a:prstDash val="solid"/>
                      <a:round/>
                      <a:headEnd type="none" w="med" len="med"/>
                      <a:tailEnd type="none" w="med" len="med"/>
                    </a:lnB>
                    <a:solidFill>
                      <a:srgbClr val="EEEDE6"/>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H1</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เปลี่ยนสถานะจาก LINE แล้วเปลี่ยน Priority ใน Plane</a:t>
                      </a:r>
                      <a:endParaRPr lang="en-US" sz="1200" dirty="0">
                        <a:latin typeface="Sarabun" charset="0"/>
                        <a:ea typeface="Sarabun" charset="0"/>
                        <a:cs typeface="Sarabun"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a:t>
                      </a:r>
                      <a:endParaRPr lang="en-US" sz="1200" dirty="0">
                        <a:latin typeface="Sarabun" charset="0"/>
                        <a:ea typeface="Sarabun" charset="0"/>
                        <a:cs typeface="Sarabun"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EBDB8"/>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H2</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พิมพ์ “ประวัติ”</a:t>
                      </a:r>
                      <a:endParaRPr lang="en-US" sz="1200" dirty="0">
                        <a:latin typeface="Sarabun" charset="0"/>
                        <a:ea typeface="Sarabun" charset="0"/>
                        <a:cs typeface="Sarabun" charset="0"/>
                      </a:endParaRPr>
                    </a:p>
                  </a:txBody>
                  <a:tcPr marL="53340" marR="53340" marT="53340" marB="53340"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เห็นทั้งสองรายการ ป้าย 💬 LINE และ 🌐 Plane</a:t>
                      </a:r>
                      <a:endParaRPr lang="en-US" sz="1200" dirty="0">
                        <a:latin typeface="Sarabun" charset="0"/>
                        <a:ea typeface="Sarabun" charset="0"/>
                        <a:cs typeface="Sarabun" charset="0"/>
                      </a:endParaRPr>
                    </a:p>
                  </a:txBody>
                  <a:tcPr marL="53340" marR="53340" marT="53340" marB="53340"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H3</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ถาม AI “ใครแก้งานนี้”</a:t>
                      </a:r>
                      <a:endParaRPr lang="en-US" sz="1200" dirty="0">
                        <a:latin typeface="Sarabun" charset="0"/>
                        <a:ea typeface="Sarabun" charset="0"/>
                        <a:cs typeface="Sarabun"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ได้ Timeline เหมือนกัน</a:t>
                      </a:r>
                      <a:endParaRPr lang="en-US" sz="1200" dirty="0">
                        <a:latin typeface="Sarabun" charset="0"/>
                        <a:ea typeface="Sarabun" charset="0"/>
                        <a:cs typeface="Sarabun"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12700" cap="flat" cmpd="sng" algn="ctr">
                      <a:solidFill>
                        <a:srgbClr val="B2B7BC"/>
                      </a:solidFill>
                      <a:prstDash val="solid"/>
                      <a:round/>
                      <a:headEnd type="none" w="med" len="med"/>
                      <a:tailEnd type="none" w="med" len="med"/>
                    </a:lnT>
                    <a:lnB w="12700" cap="flat" cmpd="sng" algn="ctr">
                      <a:solidFill>
                        <a:srgbClr val="BBBEC1"/>
                      </a:solidFill>
                      <a:prstDash val="solid"/>
                      <a:round/>
                      <a:headEnd type="none" w="med" len="med"/>
                      <a:tailEnd type="none" w="med" len="med"/>
                    </a:lnB>
                    <a:solidFill>
                      <a:srgbClr val="EAEEF2"/>
                    </a:solidFill>
                  </a:tcPr>
                </a:tc>
              </a:tr>
              <a:tr h="332581">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H4</a:t>
                      </a:r>
                      <a:endParaRPr lang="en-US" sz="1200" dirty="0">
                        <a:latin typeface="Sarabun" charset="0"/>
                        <a:ea typeface="Sarabun" charset="0"/>
                        <a:cs typeface="Sarabun" charset="0"/>
                      </a:endParaRPr>
                    </a:p>
                  </a:txBody>
                  <a:tcPr marL="53340" marR="53340" marT="53340" marB="53340" anchor="t">
                    <a:lnL w="12700" cap="flat" cmpd="sng" algn="ctr">
                      <a:solidFill>
                        <a:srgbClr val="C4C4BF"/>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Audit log → กรอง Channel = LINE</a:t>
                      </a:r>
                      <a:endParaRPr lang="en-US" sz="1200" dirty="0">
                        <a:latin typeface="Sarabun" charset="0"/>
                        <a:ea typeface="Sarabun" charset="0"/>
                        <a:cs typeface="Sarabun" charset="0"/>
                      </a:endParaRPr>
                    </a:p>
                  </a:txBody>
                  <a:tcPr marL="53340" marR="53340" marT="53340" marB="53340"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c>
                  <a:txBody>
                    <a:bodyPr/>
                    <a:lstStyle/>
                    <a:p>
                      <a:pPr indent="0" marL="0">
                        <a:lnSpc>
                          <a:spcPts val="1680"/>
                        </a:lnSpc>
                        <a:buNone/>
                      </a:pPr>
                      <a:r>
                        <a:rPr lang="en-US" sz="1200" dirty="0">
                          <a:solidFill>
                            <a:srgbClr val="16223A"/>
                          </a:solidFill>
                          <a:latin typeface="Sarabun" pitchFamily="34" charset="0"/>
                          <a:ea typeface="Sarabun" pitchFamily="34" charset="-122"/>
                          <a:cs typeface="Sarabun" pitchFamily="34" charset="-120"/>
                        </a:rPr>
                        <a:t>เห็นเฉพาะรายการจาก LINE</a:t>
                      </a:r>
                      <a:endParaRPr lang="en-US" sz="1200" dirty="0">
                        <a:latin typeface="Sarabun" charset="0"/>
                        <a:ea typeface="Sarabun" charset="0"/>
                        <a:cs typeface="Sarabun" charset="0"/>
                      </a:endParaRPr>
                    </a:p>
                  </a:txBody>
                  <a:tcPr marL="53340" marR="53340" marT="53340" marB="53340" anchor="t">
                    <a:lnL w="12700" cap="flat" cmpd="sng" algn="ctr">
                      <a:solidFill>
                        <a:srgbClr val="B2B7BC"/>
                      </a:solidFill>
                      <a:prstDash val="solid"/>
                      <a:round/>
                      <a:headEnd type="none" w="med" len="med"/>
                      <a:tailEnd type="none" w="med" len="med"/>
                    </a:lnL>
                    <a:lnR w="12700" cap="flat" cmpd="sng" algn="ctr">
                      <a:solidFill>
                        <a:srgbClr val="B2B7BC"/>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B2B7BC"/>
                      </a:solidFill>
                      <a:prstDash val="solid"/>
                      <a:round/>
                      <a:headEnd type="none" w="med" len="med"/>
                      <a:tailEnd type="none" w="med" len="med"/>
                    </a:lnB>
                    <a:solidFill>
                      <a:srgbClr val="DFE5EC"/>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A12"/>
                </a:solidFill>
                <a:latin typeface="Prompt" pitchFamily="34" charset="0"/>
                <a:ea typeface="Prompt" pitchFamily="34" charset="-122"/>
                <a:cs typeface="Prompt" pitchFamily="34" charset="-120"/>
              </a:rPr>
              <a:t>ข้อจำกัด</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6223A"/>
                </a:solidFill>
                <a:latin typeface="Prompt" pitchFamily="34" charset="0"/>
                <a:ea typeface="Prompt" pitchFamily="34" charset="-122"/>
                <a:cs typeface="Prompt" pitchFamily="34" charset="-120"/>
              </a:rPr>
              <a:t>สิ่งที่ควรรู้ และงานถัดไป</a:t>
            </a:r>
            <a:endParaRPr lang="en-US" sz="3200" dirty="0"/>
          </a:p>
        </p:txBody>
      </p:sp>
      <p:pic>
        <p:nvPicPr>
          <p:cNvPr id="4" name="Image 0" descr="Warning">    </p:cNvPr>
          <p:cNvPicPr>
            <a:picLocks noChangeAspect="1"/>
          </p:cNvPicPr>
          <p:nvPr/>
        </p:nvPicPr>
        <p:blipFill>
          <a:blip r:embed="rId1"/>
          <a:srcRect l="0" r="0" t="0" b="0"/>
          <a:stretch/>
        </p:blipFill>
        <p:spPr>
          <a:xfrm>
            <a:off x="812800" y="1849041"/>
            <a:ext cx="279400" cy="279400"/>
          </a:xfrm>
          <a:prstGeom prst="rect">
            <a:avLst/>
          </a:prstGeom>
        </p:spPr>
      </p:pic>
      <p:sp>
        <p:nvSpPr>
          <p:cNvPr id="5" name="Text 2"/>
          <p:cNvSpPr/>
          <p:nvPr/>
        </p:nvSpPr>
        <p:spPr>
          <a:xfrm>
            <a:off x="1244600" y="1860153"/>
            <a:ext cx="104386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Discord bot ต้องรีสตาร์ท เมื่อเพิ่มหรือเพิกถอน installation</a:t>
            </a:r>
            <a:endParaRPr lang="en-US" sz="1500" dirty="0"/>
          </a:p>
        </p:txBody>
      </p:sp>
      <p:pic>
        <p:nvPicPr>
          <p:cNvPr id="6" name="Image 1" descr="Warning">    </p:cNvPr>
          <p:cNvPicPr>
            <a:picLocks noChangeAspect="1"/>
          </p:cNvPicPr>
          <p:nvPr/>
        </p:nvPicPr>
        <p:blipFill>
          <a:blip r:embed="rId2"/>
          <a:srcRect l="0" r="0" t="0" b="0"/>
          <a:stretch/>
        </p:blipFill>
        <p:spPr>
          <a:xfrm>
            <a:off x="812800" y="2268141"/>
            <a:ext cx="279400" cy="279400"/>
          </a:xfrm>
          <a:prstGeom prst="rect">
            <a:avLst/>
          </a:prstGeom>
        </p:spPr>
      </p:pic>
      <p:sp>
        <p:nvSpPr>
          <p:cNvPr id="7" name="Text 3"/>
          <p:cNvSpPr/>
          <p:nvPr/>
        </p:nvSpPr>
        <p:spPr>
          <a:xfrm>
            <a:off x="1244600" y="2279253"/>
            <a:ext cx="104386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ย้ายงานข้าม Project ไม่ได้ เพราะ Plane API ไม่อนุญาต</a:t>
            </a:r>
            <a:endParaRPr lang="en-US" sz="1500" dirty="0"/>
          </a:p>
        </p:txBody>
      </p:sp>
      <p:pic>
        <p:nvPicPr>
          <p:cNvPr id="8" name="Image 2" descr="Warning">    </p:cNvPr>
          <p:cNvPicPr>
            <a:picLocks noChangeAspect="1"/>
          </p:cNvPicPr>
          <p:nvPr/>
        </p:nvPicPr>
        <p:blipFill>
          <a:blip r:embed="rId3"/>
          <a:srcRect l="0" r="0" t="0" b="0"/>
          <a:stretch/>
        </p:blipFill>
        <p:spPr>
          <a:xfrm>
            <a:off x="812800" y="2687241"/>
            <a:ext cx="279400" cy="279400"/>
          </a:xfrm>
          <a:prstGeom prst="rect">
            <a:avLst/>
          </a:prstGeom>
        </p:spPr>
      </p:pic>
      <p:sp>
        <p:nvSpPr>
          <p:cNvPr id="9" name="Text 4"/>
          <p:cNvSpPr/>
          <p:nvPr/>
        </p:nvSpPr>
        <p:spPr>
          <a:xfrm>
            <a:off x="1244600" y="2698353"/>
            <a:ext cx="104386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ป้ายที่มาใน Timeline ใช้การเทียบเวลา (2 นาที) ถ้าแก้ field เดียวกันทั้งเว็บและแชทพร้อมกัน อาจติดป้ายผิด</a:t>
            </a:r>
            <a:endParaRPr lang="en-US" sz="1500" dirty="0"/>
          </a:p>
        </p:txBody>
      </p:sp>
      <p:pic>
        <p:nvPicPr>
          <p:cNvPr id="10" name="Image 3" descr="Warning">    </p:cNvPr>
          <p:cNvPicPr>
            <a:picLocks noChangeAspect="1"/>
          </p:cNvPicPr>
          <p:nvPr/>
        </p:nvPicPr>
        <p:blipFill>
          <a:blip r:embed="rId4"/>
          <a:srcRect l="0" r="0" t="0" b="0"/>
          <a:stretch/>
        </p:blipFill>
        <p:spPr>
          <a:xfrm>
            <a:off x="812800" y="3106341"/>
            <a:ext cx="279400" cy="279400"/>
          </a:xfrm>
          <a:prstGeom prst="rect">
            <a:avLst/>
          </a:prstGeom>
        </p:spPr>
      </p:pic>
      <p:sp>
        <p:nvSpPr>
          <p:cNvPr id="11" name="Text 5"/>
          <p:cNvSpPr/>
          <p:nvPr/>
        </p:nvSpPr>
        <p:spPr>
          <a:xfrm>
            <a:off x="1244600" y="3117453"/>
            <a:ext cx="104386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การผูกกลุ่มทำได้จากแชทเท่านั้น ยังไม่มีหน้าตั้งค่าในเว็บ</a:t>
            </a:r>
            <a:endParaRPr lang="en-US" sz="1500" dirty="0"/>
          </a:p>
        </p:txBody>
      </p:sp>
      <p:pic>
        <p:nvPicPr>
          <p:cNvPr id="12" name="Image 4" descr="Warning">    </p:cNvPr>
          <p:cNvPicPr>
            <a:picLocks noChangeAspect="1"/>
          </p:cNvPicPr>
          <p:nvPr/>
        </p:nvPicPr>
        <p:blipFill>
          <a:blip r:embed="rId5"/>
          <a:srcRect l="0" r="0" t="0" b="0"/>
          <a:stretch/>
        </p:blipFill>
        <p:spPr>
          <a:xfrm>
            <a:off x="812800" y="3525441"/>
            <a:ext cx="279400" cy="279400"/>
          </a:xfrm>
          <a:prstGeom prst="rect">
            <a:avLst/>
          </a:prstGeom>
        </p:spPr>
      </p:pic>
      <p:sp>
        <p:nvSpPr>
          <p:cNvPr id="13" name="Text 6"/>
          <p:cNvSpPr/>
          <p:nvPr/>
        </p:nvSpPr>
        <p:spPr>
          <a:xfrm>
            <a:off x="1244600" y="3536553"/>
            <a:ext cx="104386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6223A"/>
                </a:solidFill>
                <a:latin typeface="Sarabun" pitchFamily="34" charset="0"/>
                <a:ea typeface="Sarabun" pitchFamily="34" charset="-122"/>
                <a:cs typeface="Sarabun" pitchFamily="34" charset="-120"/>
              </a:rPr>
              <a:t>AI ผ่านชุดทดสอบ 24/24 ประโยค ชุดใหญ่ 150 ประโยคยังไม่ได้ทำ</a:t>
            </a:r>
            <a:endParaRPr lang="en-US" sz="1500" dirty="0"/>
          </a:p>
        </p:txBody>
      </p:sp>
      <p:sp>
        <p:nvSpPr>
          <p:cNvPr id="14"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Sarabun" pitchFamily="34" charset="0"/>
                <a:ea typeface="Sarabun" pitchFamily="34" charset="-122"/>
                <a:cs typeface="Sarabun" pitchFamily="34" charset="-120"/>
              </a:rPr>
              <a:t>Prom · LINE / Discord / AI</a:t>
            </a:r>
            <a:endParaRPr lang="en-US" sz="1200" dirty="0"/>
          </a:p>
        </p:txBody>
      </p:sp>
      <p:sp>
        <p:nvSpPr>
          <p:cNvPr id="15"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280"/>
                </a:solidFill>
                <a:latin typeface="Sarabun" pitchFamily="34" charset="0"/>
                <a:ea typeface="Sarabun" pitchFamily="34" charset="-122"/>
                <a:cs typeface="Sarabun"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2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742C"/>
          </a:solidFill>
          <a:ln/>
        </p:spPr>
      </p:sp>
      <p:sp>
        <p:nvSpPr>
          <p:cNvPr id="3" name="Text 1"/>
          <p:cNvSpPr/>
          <p:nvPr>
            <p:ph type="title"/>
          </p:nvPr>
        </p:nvSpPr>
        <p:spPr>
          <a:xfrm>
            <a:off x="812800" y="2307034"/>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6F5F0"/>
                </a:solidFill>
                <a:latin typeface="Prompt" pitchFamily="34" charset="0"/>
                <a:ea typeface="Prompt" pitchFamily="34" charset="-122"/>
                <a:cs typeface="Prompt" pitchFamily="34" charset="-120"/>
              </a:rPr>
              <a:t>ขอบคุณ</a:t>
            </a:r>
            <a:endParaRPr lang="en-US" sz="7000" dirty="0"/>
          </a:p>
        </p:txBody>
      </p:sp>
      <p:sp>
        <p:nvSpPr>
          <p:cNvPr id="4" name="Text 2"/>
          <p:cNvSpPr/>
          <p:nvPr/>
        </p:nvSpPr>
        <p:spPr>
          <a:xfrm>
            <a:off x="812800" y="3469084"/>
            <a:ext cx="10883392"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8742C"/>
                </a:solidFill>
                <a:latin typeface="Prompt" pitchFamily="34" charset="0"/>
                <a:ea typeface="Prompt" pitchFamily="34" charset="-122"/>
                <a:cs typeface="Prompt" pitchFamily="34" charset="-120"/>
              </a:rPr>
              <a:t>ถาม–ตอบ</a:t>
            </a:r>
            <a:endParaRPr lang="en-US" sz="2400" dirty="0"/>
          </a:p>
        </p:txBody>
      </p:sp>
      <p:sp>
        <p:nvSpPr>
          <p:cNvPr id="5" name="Text 3"/>
          <p:cNvSpPr/>
          <p:nvPr/>
        </p:nvSpPr>
        <p:spPr>
          <a:xfrm>
            <a:off x="819150" y="4130675"/>
            <a:ext cx="737096" cy="413941"/>
          </a:xfrm>
          <a:prstGeom prst="roundRect">
            <a:avLst>
              <a:gd name="adj" fmla="val 50000"/>
            </a:avLst>
          </a:prstGeom>
          <a:noFill/>
          <a:ln w="12700">
            <a:solidFill>
              <a:srgbClr val="4A5A78"/>
            </a:solidFill>
            <a:prstDash val="solid"/>
          </a:ln>
        </p:spPr>
        <p:txBody>
          <a:bodyPr wrap="none" lIns="0" tIns="0" rIns="0" bIns="0" rtlCol="0" anchor="ctr">
            <a:normAutofit/>
          </a:bodyPr>
          <a:lstStyle/>
          <a:p>
            <a:pPr algn="ctr" indent="0" marL="0">
              <a:lnSpc>
                <a:spcPts val="1960"/>
              </a:lnSpc>
              <a:buNone/>
            </a:pPr>
            <a:r>
              <a:rPr lang="en-US" sz="1400" dirty="0">
                <a:solidFill>
                  <a:srgbClr val="F6F5F0"/>
                </a:solidFill>
                <a:latin typeface="Sarabun" pitchFamily="34" charset="0"/>
                <a:ea typeface="Sarabun" pitchFamily="34" charset="-122"/>
                <a:cs typeface="Sarabun" pitchFamily="34" charset="-120"/>
              </a:rPr>
              <a:t>LINE</a:t>
            </a:r>
            <a:endParaRPr lang="en-US" sz="1400" dirty="0"/>
          </a:p>
        </p:txBody>
      </p:sp>
      <p:sp>
        <p:nvSpPr>
          <p:cNvPr id="6" name="Text 4"/>
          <p:cNvSpPr/>
          <p:nvPr/>
        </p:nvSpPr>
        <p:spPr>
          <a:xfrm>
            <a:off x="1670546" y="4130675"/>
            <a:ext cx="938411" cy="413941"/>
          </a:xfrm>
          <a:prstGeom prst="roundRect">
            <a:avLst>
              <a:gd name="adj" fmla="val 50000"/>
            </a:avLst>
          </a:prstGeom>
          <a:noFill/>
          <a:ln w="12700">
            <a:solidFill>
              <a:srgbClr val="4A5A78"/>
            </a:solidFill>
            <a:prstDash val="solid"/>
          </a:ln>
        </p:spPr>
        <p:txBody>
          <a:bodyPr wrap="none" lIns="0" tIns="0" rIns="0" bIns="0" rtlCol="0" anchor="ctr">
            <a:normAutofit/>
          </a:bodyPr>
          <a:lstStyle/>
          <a:p>
            <a:pPr algn="ctr" indent="0" marL="0">
              <a:lnSpc>
                <a:spcPts val="1960"/>
              </a:lnSpc>
              <a:buNone/>
            </a:pPr>
            <a:r>
              <a:rPr lang="en-US" sz="1400" dirty="0">
                <a:solidFill>
                  <a:srgbClr val="F6F5F0"/>
                </a:solidFill>
                <a:latin typeface="Sarabun" pitchFamily="34" charset="0"/>
                <a:ea typeface="Sarabun" pitchFamily="34" charset="-122"/>
                <a:cs typeface="Sarabun" pitchFamily="34" charset="-120"/>
              </a:rPr>
              <a:t>Discord</a:t>
            </a:r>
            <a:endParaRPr lang="en-US" sz="1400" dirty="0"/>
          </a:p>
        </p:txBody>
      </p:sp>
      <p:sp>
        <p:nvSpPr>
          <p:cNvPr id="7" name="Text 5"/>
          <p:cNvSpPr/>
          <p:nvPr/>
        </p:nvSpPr>
        <p:spPr>
          <a:xfrm>
            <a:off x="2723257" y="4130675"/>
            <a:ext cx="980480" cy="413941"/>
          </a:xfrm>
          <a:prstGeom prst="roundRect">
            <a:avLst>
              <a:gd name="adj" fmla="val 50000"/>
            </a:avLst>
          </a:prstGeom>
          <a:noFill/>
          <a:ln w="12700">
            <a:solidFill>
              <a:srgbClr val="4A5A78"/>
            </a:solidFill>
            <a:prstDash val="solid"/>
          </a:ln>
        </p:spPr>
        <p:txBody>
          <a:bodyPr wrap="none" lIns="0" tIns="0" rIns="0" bIns="0" rtlCol="0" anchor="ctr">
            <a:normAutofit/>
          </a:bodyPr>
          <a:lstStyle/>
          <a:p>
            <a:pPr algn="ctr" indent="0" marL="0">
              <a:lnSpc>
                <a:spcPts val="1960"/>
              </a:lnSpc>
              <a:buNone/>
            </a:pPr>
            <a:r>
              <a:rPr lang="en-US" sz="1400" dirty="0">
                <a:solidFill>
                  <a:srgbClr val="F6F5F0"/>
                </a:solidFill>
                <a:latin typeface="Sarabun" pitchFamily="34" charset="0"/>
                <a:ea typeface="Sarabun" pitchFamily="34" charset="-122"/>
                <a:cs typeface="Sarabun" pitchFamily="34" charset="-120"/>
              </a:rPr>
              <a:t>AI ผู้ช่วย</a:t>
            </a:r>
            <a:endParaRPr lang="en-US" sz="1400" dirty="0"/>
          </a:p>
        </p:txBody>
      </p:sp>
      <p:sp>
        <p:nvSpPr>
          <p:cNvPr id="8" name="Text 6"/>
          <p:cNvSpPr/>
          <p:nvPr/>
        </p:nvSpPr>
        <p:spPr>
          <a:xfrm>
            <a:off x="3818037" y="4130675"/>
            <a:ext cx="1473597" cy="413941"/>
          </a:xfrm>
          <a:prstGeom prst="roundRect">
            <a:avLst>
              <a:gd name="adj" fmla="val 50000"/>
            </a:avLst>
          </a:prstGeom>
          <a:noFill/>
          <a:ln w="12700">
            <a:solidFill>
              <a:srgbClr val="4A5A78"/>
            </a:solidFill>
            <a:prstDash val="solid"/>
          </a:ln>
        </p:spPr>
        <p:txBody>
          <a:bodyPr wrap="none" lIns="0" tIns="0" rIns="0" bIns="0" rtlCol="0" anchor="ctr">
            <a:normAutofit/>
          </a:bodyPr>
          <a:lstStyle/>
          <a:p>
            <a:pPr algn="ctr" indent="0" marL="0">
              <a:lnSpc>
                <a:spcPts val="1960"/>
              </a:lnSpc>
              <a:buNone/>
            </a:pPr>
            <a:r>
              <a:rPr lang="en-US" sz="1400" dirty="0">
                <a:solidFill>
                  <a:srgbClr val="F6F5F0"/>
                </a:solidFill>
                <a:latin typeface="Sarabun" pitchFamily="34" charset="0"/>
                <a:ea typeface="Sarabun" pitchFamily="34" charset="-122"/>
                <a:cs typeface="Sarabun" pitchFamily="34" charset="-120"/>
              </a:rPr>
              <a:t>10 ฟีเจอร์ MVP</a:t>
            </a:r>
            <a:endParaRPr lang="en-US" sz="1400" dirty="0"/>
          </a:p>
        </p:txBody>
      </p:sp>
    </p:spTree>
  </p:cSld>
  <p:clrMapOvr>
    <a:masterClrMapping/>
  </p:clrMapOvr>
</p:sld>
</file>

<file path=ppt/theme/theme1.xml><?xml version="1.0" encoding="utf-8"?>
<a:theme xmlns:a="http://schemas.openxmlformats.org/drawingml/2006/main" name="Prom AI Integration">
  <a:themeElements>
    <a:clrScheme name="Prom AI Integration">
      <a:dk1>
        <a:srgbClr val="16223A"/>
      </a:dk1>
      <a:lt1>
        <a:srgbClr val="F6F5F0"/>
      </a:lt1>
      <a:dk2>
        <a:srgbClr val="4E5768"/>
      </a:dk2>
      <a:lt2>
        <a:srgbClr val="E0E0DE"/>
      </a:lt2>
      <a:accent1>
        <a:srgbClr val="B04A12"/>
      </a:accent1>
      <a:accent2>
        <a:srgbClr val="E8742C"/>
      </a:accent2>
      <a:accent3>
        <a:srgbClr val="FBE3D3"/>
      </a:accent3>
      <a:accent4>
        <a:srgbClr val="2F5FBF"/>
      </a:accent4>
      <a:accent5>
        <a:srgbClr val="6A7280"/>
      </a:accent5>
      <a:accent6>
        <a:srgbClr val="4A5568"/>
      </a:accent6>
      <a:hlink>
        <a:srgbClr val="0563C1"/>
      </a:hlink>
      <a:folHlink>
        <a:srgbClr val="954F72"/>
      </a:folHlink>
    </a:clrScheme>
    <a:fontScheme name="Prom AI Integration">
      <a:majorFont>
        <a:latin typeface="Promp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rabu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 AI Integration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Sarabun
Copyright 2018 The Sarabun Project Authors (https://github.com/cadsondemak/Sarabun)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Prompt
Copyright (c) 2015, Cadson Demak (info@cadsondemak.com)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2026-10-27T05:10:05Z</dcterms:created>
  <dcterms:modified xsi:type="dcterms:W3CDTF">2026-10-27T05:10:05Z</dcterms:modified>
</cp:coreProperties>
</file>